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68680"/>
            <a:ext cx="6858000" cy="1325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多模态稀疏 Attention
与定制 Mask Kernel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2496312"/>
            <a:ext cx="69494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C6D6D2"/>
                </a:solidFill>
                <a:latin typeface="Aptos"/>
              </a:rPr>
              <a:t>从论文图示、核心机制到 mask lowering、kernel metadata 与 host-device 数据流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65008" y="3657600"/>
            <a:ext cx="3337560" cy="438912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66175" y="3767328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理解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15400" y="3758184"/>
            <a:ext cx="2286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17212B"/>
                </a:solidFill>
                <a:latin typeface="Aptos"/>
              </a:rPr>
              <a:t>high-resolution VLM token selection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65008" y="4315968"/>
            <a:ext cx="3337560" cy="438912"/>
          </a:xfrm>
          <a:prstGeom prst="round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66175" y="4425696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统一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4416552"/>
            <a:ext cx="2286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17212B"/>
                </a:solidFill>
                <a:latin typeface="Aptos"/>
              </a:rPr>
              <a:t>two-way stream lowering / special causal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5008" y="4974336"/>
            <a:ext cx="3337560" cy="438912"/>
          </a:xfrm>
          <a:prstGeom prst="round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66175" y="5084064"/>
            <a:ext cx="5943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生成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5074920"/>
            <a:ext cx="2286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17212B"/>
                </a:solidFill>
                <a:latin typeface="Aptos"/>
              </a:rPr>
              <a:t>window, CSR, router, temporal reuse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172200"/>
            <a:ext cx="749807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A9BFBA"/>
                </a:solidFill>
                <a:latin typeface="Aptos"/>
              </a:rPr>
              <a:t>10 篇代表工作 | 原论文图已嵌入 | 代码证据与推断严格区分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AAB8B5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212B"/>
                </a:solidFill>
                <a:latin typeface="Aptos Display"/>
              </a:rPr>
              <a:t>如何读本报告：一张图必须落到一个可执行对象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2616B"/>
                </a:solidFill>
                <a:latin typeface="Aptos"/>
              </a:rPr>
              <a:t>图文精读版 | 2026-07-10 | NVIDIA CUDA 重点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148840"/>
            <a:ext cx="24871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2148840"/>
            <a:ext cx="2487168" cy="10972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50592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任务与 token 拓扑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202996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text / patch / frame / action / chunk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18103" y="2688336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-&gt;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2148840"/>
            <a:ext cx="24871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93008" y="2148840"/>
            <a:ext cx="2487168" cy="109728"/>
          </a:xfrm>
          <a:prstGeom prst="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7" y="2450592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可见性语义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2926080"/>
            <a:ext cx="202996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causal / local / anchor / read-only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16752" y="2688336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-&gt;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91656" y="2148840"/>
            <a:ext cx="24871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91656" y="2148840"/>
            <a:ext cx="2487168" cy="109728"/>
          </a:xfrm>
          <a:prstGeom prst="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74536" y="2450592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lowering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536" y="2926080"/>
            <a:ext cx="202996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varlen call / BlockMask / CSR / pack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688336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90304" y="2148840"/>
            <a:ext cx="24871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90304" y="2148840"/>
            <a:ext cx="2487168" cy="10972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73184" y="2450592"/>
            <a:ext cx="2057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7212B"/>
                </a:solidFill>
                <a:latin typeface="Aptos"/>
              </a:rPr>
              <a:t>kernel 与 runtime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3184" y="2926080"/>
            <a:ext cx="202996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tile traversal / plan / KV / 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434840"/>
            <a:ext cx="107899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7212B"/>
                </a:solidFill>
                <a:latin typeface="Aptos"/>
              </a:rPr>
              <a:t>每篇均回答：解决什么问题？图中 token/block 是什么？mask 怎样表示？kernel 到底跳过了什么？哪部分只有论文证据？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212080"/>
            <a:ext cx="106070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5212080"/>
            <a:ext cx="91440" cy="749808"/>
          </a:xfrm>
          <a:prstGeom prst="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" y="5340096"/>
            <a:ext cx="1029614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读图规则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" y="5650992"/>
            <a:ext cx="10296144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论文图说明算法语义；源码路径说明 runtime 真正接收什么；性能图只能支持其报告设置，不能自动归因给单个 kernel。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16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212B"/>
                </a:solidFill>
                <a:latin typeface="Aptos Display"/>
              </a:rPr>
              <a:t>领域图谱：mask 不再只是一个 score bias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2616B"/>
                </a:solidFill>
                <a:latin typeface="Aptos"/>
              </a:rPr>
              <a:t>图文精读版 | 2026-07-10 | NVIDIA CUDA 重点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1078992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353312" cy="768096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1581912"/>
            <a:ext cx="1051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7212B"/>
                </a:solidFill>
                <a:latin typeface="Aptos"/>
              </a:rPr>
              <a:t>规则型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1481328"/>
            <a:ext cx="21031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Causal-rCM / Cosmos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26864" y="1481328"/>
            <a:ext cx="2788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2616B"/>
                </a:solidFill>
                <a:latin typeface="Aptos"/>
              </a:rPr>
              <a:t>block schedule, stream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481328"/>
            <a:ext cx="321868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7212B"/>
                </a:solidFill>
                <a:latin typeface="Aptos"/>
              </a:rPr>
              <a:t>BlockMask / varlen calls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386584"/>
            <a:ext cx="1078992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386584"/>
            <a:ext cx="1353312" cy="768096"/>
          </a:xfrm>
          <a:prstGeom prst="round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2642615"/>
            <a:ext cx="1051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7212B"/>
                </a:solidFill>
                <a:latin typeface="Aptos"/>
              </a:rPr>
              <a:t>索引型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4288" y="2542032"/>
            <a:ext cx="21031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LVSA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2542032"/>
            <a:ext cx="2788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2616B"/>
                </a:solidFill>
                <a:latin typeface="Aptos"/>
              </a:rPr>
              <a:t>CSR indptr + indices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542032"/>
            <a:ext cx="321868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7212B"/>
                </a:solidFill>
                <a:latin typeface="Aptos"/>
              </a:rPr>
              <a:t>FlashInfer planning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47287"/>
            <a:ext cx="1078992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447287"/>
            <a:ext cx="1353312" cy="768096"/>
          </a:xfrm>
          <a:prstGeom prst="round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3703320"/>
            <a:ext cx="1051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7212B"/>
                </a:solidFill>
                <a:latin typeface="Aptos"/>
              </a:rPr>
              <a:t>选择型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3602735"/>
            <a:ext cx="21031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VMoBA / TSA / VLM FlexAttn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3602735"/>
            <a:ext cx="2788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2616B"/>
                </a:solidFill>
                <a:latin typeface="Aptos"/>
              </a:rPr>
              <a:t>index set + compact QKV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602735"/>
            <a:ext cx="321868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7212B"/>
                </a:solidFill>
                <a:latin typeface="Aptos"/>
              </a:rPr>
              <a:t>FlashAttention varlen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507992"/>
            <a:ext cx="1078992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" y="4507992"/>
            <a:ext cx="1353312" cy="768096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" y="4764024"/>
            <a:ext cx="1051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7212B"/>
                </a:solidFill>
                <a:latin typeface="Aptos"/>
              </a:rPr>
              <a:t>替代型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04288" y="4663440"/>
            <a:ext cx="21031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FrameDiT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26864" y="4663440"/>
            <a:ext cx="2788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2616B"/>
                </a:solidFill>
                <a:latin typeface="Aptos"/>
              </a:rPr>
              <a:t>frame-level matrix representation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663440"/>
            <a:ext cx="3218688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7212B"/>
                </a:solidFill>
                <a:latin typeface="Aptos"/>
              </a:rPr>
              <a:t>不生成 token-pair mask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06440"/>
            <a:ext cx="10607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7212B"/>
                </a:solidFill>
                <a:latin typeface="Aptos"/>
              </a:rPr>
              <a:t>系统趋势：将“可见性”保留为规则、索引或紧凑序列，直到 kernel plan；禁止在模型脚本侧先 materialize L x L。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16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212B"/>
                </a:solidFill>
                <a:latin typeface="Aptos Display"/>
              </a:rPr>
              <a:t>理解侧：FlexAttention VLM 的高分辨率 token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2616B"/>
                </a:solidFill>
                <a:latin typeface="Aptos"/>
              </a:rPr>
              <a:t>图文精读版 | 2026-07-10 | NVIDIA CUDA 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681228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6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2_hierarchical_vlm_selection_ca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40358"/>
            <a:ext cx="6812280" cy="43144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261872"/>
            <a:ext cx="409651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43800" y="1261872"/>
            <a:ext cx="91440" cy="124358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4968" y="1389888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解决的问题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8" y="1700784"/>
            <a:ext cx="3785616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所有 high-resolution patch 与文本一起全注意力，分辨率升高时 decoder 成本失控。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697480"/>
            <a:ext cx="4096512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2697480"/>
            <a:ext cx="91440" cy="1399032"/>
          </a:xfrm>
          <a:prstGeom prst="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28254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图中机制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968" y="3136392"/>
            <a:ext cx="3785616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低分辨率/文本先给全局语义；attention map 选出高分辨率区域 token，再进 hierarchical self-attention。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297680"/>
            <a:ext cx="4096512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4297680"/>
            <a:ext cx="91440" cy="1444752"/>
          </a:xfrm>
          <a:prstGeom prst="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8" y="44256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实现 / kernel 含义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4736592"/>
            <a:ext cx="3785616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selected indices -&gt; gather high-res feature -&gt; compact attention。具体 CUDA backend 本次未逐行核验，不能把方法名等同 PyTorch FlexAttention。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437376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2616B"/>
                </a:solidFill>
                <a:latin typeface="Aptos"/>
              </a:rPr>
              <a:t>Paper Fig.2, arXiv:2407.20228; official UMass repository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16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212B"/>
                </a:solidFill>
                <a:latin typeface="Aptos Display"/>
              </a:rPr>
              <a:t>统一模型：Cosmos 3 将混合 mask 降低为两个 varlen 调用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2616B"/>
                </a:solidFill>
                <a:latin typeface="Aptos"/>
              </a:rPr>
              <a:t>图文精读版 | 2026-07-10 | NVIDIA CUDA 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681228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6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wo_way_attention_inf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60606"/>
            <a:ext cx="6812280" cy="427394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261872"/>
            <a:ext cx="409651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43800" y="1261872"/>
            <a:ext cx="91440" cy="1243584"/>
          </a:xfrm>
          <a:prstGeom prst="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4968" y="1389888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解决的问题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8" y="1700784"/>
            <a:ext cx="3785616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reasoner 必须 causal 且不受 noisy generator 污染；generator 又必须读同样本 reasoner + 自身 token。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697480"/>
            <a:ext cx="4096512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2697480"/>
            <a:ext cx="91440" cy="1399032"/>
          </a:xfrm>
          <a:prstGeom prst="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28254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图中机制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968" y="3136392"/>
            <a:ext cx="3785616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reasoner: causal self-attention；generator: bidirectional attention over [reasoner, generator]。按 sample 打包，避免跨样本 read。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297680"/>
            <a:ext cx="4096512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4297680"/>
            <a:ext cx="91440" cy="1444752"/>
          </a:xfrm>
          <a:prstGeom prst="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8" y="44256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实现 / kernel 含义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4736592"/>
            <a:ext cx="3785616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先 semantic lowering 为 causal/full 两次调用。论文材料报告相对 FlexAttention baseline 的 Nano training throughput +22%，Hopper FA3、GB200 NATTEN/CUTLASS。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437376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2616B"/>
                </a:solidFill>
                <a:latin typeface="Aptos"/>
              </a:rPr>
              <a:t>Cosmos 3 local source: two-way attention infrastructure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16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212B"/>
                </a:solidFill>
                <a:latin typeface="Aptos Display"/>
              </a:rPr>
              <a:t>流式世界模型：Causal-rCM 的 special causal mask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2616B"/>
                </a:solidFill>
                <a:latin typeface="Aptos"/>
              </a:rPr>
              <a:t>图文精读版 | 2026-07-10 | NVIDIA CUDA 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681228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6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3_causal_training_paradigms_ca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1001"/>
            <a:ext cx="6812280" cy="297315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261872"/>
            <a:ext cx="409651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43800" y="1261872"/>
            <a:ext cx="91440" cy="1243584"/>
          </a:xfrm>
          <a:prstGeom prst="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4968" y="1389888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解决的问题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8" y="1700784"/>
            <a:ext cx="3785616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AR diffusion 的 TF 需要 clean history + noisy target；SF 又需 self-generated rollout 与 KV cache。普通三角 causal mask 不够。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697480"/>
            <a:ext cx="4096512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2697480"/>
            <a:ext cx="91440" cy="1399032"/>
          </a:xfrm>
          <a:prstGeom prst="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28254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图中机制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968" y="3136392"/>
            <a:ext cx="3785616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图中 TF / DF / SF 区分 clean、noisy、self-generated history；noisy block 只读允许的 clean history 与自身 block。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297680"/>
            <a:ext cx="4096512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4297680"/>
            <a:ext cx="91440" cy="1444752"/>
          </a:xfrm>
          <a:prstGeom prst="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8" y="44256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实现 / kernel 含义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4736592"/>
            <a:ext cx="3785616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BlockPattern + AttnMaskSpec -&gt; Flex BlockMask / range metadata；同一 mask 进入 primal 和 JVP Triton kernel。Magi backward 限制需单独核验。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437376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2616B"/>
                </a:solidFill>
                <a:latin typeface="Aptos"/>
              </a:rPr>
              <a:t>Causal-rCM Fig.3; code commit ed3cb14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16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212B"/>
                </a:solidFill>
                <a:latin typeface="Aptos Display"/>
              </a:rPr>
              <a:t>长视频：LVSA 用 window + rotating anchors 保持稀疏预算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2616B"/>
                </a:solidFill>
                <a:latin typeface="Aptos"/>
              </a:rPr>
              <a:t>图文精读版 | 2026-07-10 | NVIDIA CUDA 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681228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6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1_expanded_window_ca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89" y="1234440"/>
            <a:ext cx="6070540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261872"/>
            <a:ext cx="409651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43800" y="1261872"/>
            <a:ext cx="91440" cy="124358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4968" y="1389888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解决的问题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8" y="1700784"/>
            <a:ext cx="3785616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固定 window 会漏长程依赖；window 与 global anchor 重叠又浪费固定 attention budget。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697480"/>
            <a:ext cx="4096512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2697480"/>
            <a:ext cx="91440" cy="1399032"/>
          </a:xfrm>
          <a:prstGeom prst="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28254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图中机制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968" y="3136392"/>
            <a:ext cx="3785616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expanded local window 与 periodic global frames 构成 A(t)=G union W(t)，每个 query frame 近似保持相同 attended set 大小。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297680"/>
            <a:ext cx="4096512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4297680"/>
            <a:ext cx="91440" cy="1444752"/>
          </a:xfrm>
          <a:prstGeom prst="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8" y="44256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实现 / kernel 含义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4736592"/>
            <a:ext cx="3785616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frame-block CSR int32 indptr/indices；FlashInfer BlockSparseAttentionWrapper 跳过未列 tile。CPU planner 留 metadata 在 host，并非 GPU kernel 直接读 CPU RAM。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437376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2616B"/>
                </a:solidFill>
                <a:latin typeface="Aptos"/>
              </a:rPr>
              <a:t>LVSA Fig.1; code commit 1ebcc92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16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212B"/>
                </a:solidFill>
                <a:latin typeface="Aptos Display"/>
              </a:rPr>
              <a:t>学习式 block router：VMoBA 的 partition -&gt; select -&gt; varlen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2616B"/>
                </a:solidFill>
                <a:latin typeface="Aptos"/>
              </a:rPr>
              <a:t>图文精读版 | 2026-07-10 | NVIDIA CUDA 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681228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6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2_vmoba_pipeline_ca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9834"/>
            <a:ext cx="6812280" cy="415549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261872"/>
            <a:ext cx="409651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43800" y="1261872"/>
            <a:ext cx="91440" cy="1243584"/>
          </a:xfrm>
          <a:prstGeom prst="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4968" y="1389888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解决的问题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8" y="1700784"/>
            <a:ext cx="3785616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一维均匀 MoBA block 与视频 temporal/spatial/3D 邻域不匹配；固定 top-k 也浪费异质 head 预算。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697480"/>
            <a:ext cx="4096512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2697480"/>
            <a:ext cx="91440" cy="1399032"/>
          </a:xfrm>
          <a:prstGeom prst="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28254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图中机制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968" y="3136392"/>
            <a:ext cx="3785616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recurrent 1D/2D/3D partition，mean key 产生 block score；global/threshold selection 后仅在选中 blocks attention。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297680"/>
            <a:ext cx="4096512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4297680"/>
            <a:ext cx="91440" cy="1444752"/>
          </a:xfrm>
          <a:prstGeom prst="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8" y="44256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实现 / kernel 含义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4736592"/>
            <a:ext cx="3785616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GPU gate + topk/threshold -&gt; nonzero -&gt; gather QKV -&gt; cu_seqlens -&gt; FlashAttention varlen。控制面为 gate/sort/pack/LSE，不传 CSR 或 pair-mask。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437376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2616B"/>
                </a:solidFill>
                <a:latin typeface="Aptos"/>
              </a:rPr>
              <a:t>VMoBA Fig.2; code commit 48aaccd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16B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212B"/>
                </a:solidFill>
                <a:latin typeface="Aptos Display"/>
              </a:rPr>
              <a:t>动态控制面：HASTE 的 mask reuse 与 head-wise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2616B"/>
                </a:solidFill>
                <a:latin typeface="Aptos"/>
              </a:rPr>
              <a:t>图文精读版 | 2026-07-10 | NVIDIA CUDA 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681228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6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4_tmr_ebc_framework_ca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30240"/>
            <a:ext cx="6812280" cy="393467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261872"/>
            <a:ext cx="409651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43800" y="1261872"/>
            <a:ext cx="91440" cy="1243584"/>
          </a:xfrm>
          <a:prstGeom prst="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4968" y="1389888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解决的问题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8" y="1700784"/>
            <a:ext cx="3785616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Video DiT 要多 step denoise；逐 head、逐 step 重算 sparse mask 可能吃掉 attention 节省，统一 threshold 又不公平。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697480"/>
            <a:ext cx="4096512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2697480"/>
            <a:ext cx="91440" cy="1399032"/>
          </a:xfrm>
          <a:prstGeom prst="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28254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图中机制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968" y="3136392"/>
            <a:ext cx="3785616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TMR 用 Q/K drift 判断每个 head 复用还是刷新 cached descriptor；EBC 用离线 error curve 分配 head-specific threshold。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297680"/>
            <a:ext cx="4096512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4297680"/>
            <a:ext cx="91440" cy="1444752"/>
          </a:xfrm>
          <a:prstGeom prst="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8" y="44256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实现 / kernel 含义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4736592"/>
            <a:ext cx="3785616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应缓存 sparse descriptor，而非 N x N mask。官方代码未取得，CSR/BlockMask/host-device placement 不可断言；机制与结果为 PDF-only。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437376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2616B"/>
                </a:solidFill>
                <a:latin typeface="Aptos"/>
              </a:rPr>
              <a:t>HASTE Fig.4, arXiv:2605.14513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16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212B"/>
                </a:solidFill>
                <a:latin typeface="Aptos Display"/>
              </a:rPr>
              <a:t>Training-free 视频：Sparse VideoGen 的 spatial / temporal head dispatch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2616B"/>
                </a:solidFill>
                <a:latin typeface="Aptos"/>
              </a:rPr>
              <a:t>图文精读版 | 2026-07-10 | NVIDIA CUDA 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681228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6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4_svg_workflow_ca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44380"/>
            <a:ext cx="6812280" cy="310639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261872"/>
            <a:ext cx="409651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43800" y="1261872"/>
            <a:ext cx="91440" cy="124358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4968" y="1389888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解决的问题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8" y="1700784"/>
            <a:ext cx="3785616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Video DiT 3D full attention 成为主成本；直接移植 LLM mask 会丢 temporal dependency。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697480"/>
            <a:ext cx="4096512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2697480"/>
            <a:ext cx="91440" cy="1399032"/>
          </a:xfrm>
          <a:prstGeom prst="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28254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图中机制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968" y="3136392"/>
            <a:ext cx="3785616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sampled rows 对 spatial / temporal / full attention 做 MSE 近似，按 head dispatch 到专用 pattern。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297680"/>
            <a:ext cx="4096512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4297680"/>
            <a:ext cx="91440" cy="1444752"/>
          </a:xfrm>
          <a:prstGeom prst="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8" y="44256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实现 / kernel 含义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4736592"/>
            <a:ext cx="3785616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关键不只是找 pattern：temporal slash 必须 layout transform 才能有 coalesced tile access。论文称 Triton/FlashInfer prototype，具体 metadata 本次未有源码核验。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437376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2616B"/>
                </a:solidFill>
                <a:latin typeface="Aptos"/>
              </a:rPr>
              <a:t>Sparse VideoGen Fig.4, arXiv:2502.01776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16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212B"/>
                </a:solidFill>
                <a:latin typeface="Aptos Display"/>
              </a:rPr>
              <a:t>Token Sparse Attention：保留 selector 灵活性，复用成熟 kernel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2616B"/>
                </a:solidFill>
                <a:latin typeface="Aptos"/>
              </a:rPr>
              <a:t>图文精读版 | 2026-07-10 | NVIDIA CUDA 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681228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6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3_compress_attention_scatter_ca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78355"/>
            <a:ext cx="6812280" cy="28384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261872"/>
            <a:ext cx="409651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43800" y="1261872"/>
            <a:ext cx="91440" cy="1243584"/>
          </a:xfrm>
          <a:prstGeom prst="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4968" y="1389888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解决的问题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8" y="1700784"/>
            <a:ext cx="3785616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block sparse 粒度高效但 token importance 随 layer/head 变化；永久 drop token 会妨碍后续层重新选择。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697480"/>
            <a:ext cx="4096512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2697480"/>
            <a:ext cx="91440" cy="1399032"/>
          </a:xfrm>
          <a:prstGeom prst="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28254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图中机制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968" y="3136392"/>
            <a:ext cx="3785616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per-head select token subset；compress Q/K/V；在 compact tensors attention；scatter output back 后叠加 residual。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297680"/>
            <a:ext cx="4096512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4297680"/>
            <a:ext cx="91440" cy="1444752"/>
          </a:xfrm>
          <a:prstGeom prst="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8" y="44256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实现 / kernel 含义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4736592"/>
            <a:ext cx="3785616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kernel 只见连续 compact QKV，可复用 FlashAttention；真实成本为 selector + gather/contiguous + scatter。实现细节为 PDF-only。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437376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2616B"/>
                </a:solidFill>
                <a:latin typeface="Aptos"/>
              </a:rPr>
              <a:t>Token Sparse Attention Fig.3, arXiv:2602.03216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16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212B"/>
                </a:solidFill>
                <a:latin typeface="Aptos Display"/>
              </a:rPr>
              <a:t>长上下文桥接：MInference 的 pattern-aware index 与 kernel dispatch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2616B"/>
                </a:solidFill>
                <a:latin typeface="Aptos"/>
              </a:rPr>
              <a:t>图文精读版 | 2026-07-10 | NVIDIA CUDA 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681228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6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3_sparse_patterns_ca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52587"/>
            <a:ext cx="6812280" cy="368998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261872"/>
            <a:ext cx="409651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43800" y="1261872"/>
            <a:ext cx="91440" cy="1243584"/>
          </a:xfrm>
          <a:prstGeom prst="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4968" y="1389888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解决的问题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8" y="1700784"/>
            <a:ext cx="3785616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prefill attention 延迟主导；固定 top-k index 跨 prompt recall 显著下降。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697480"/>
            <a:ext cx="4096512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2697480"/>
            <a:ext cx="91440" cy="1399032"/>
          </a:xfrm>
          <a:prstGeom prst="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28254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图中机制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968" y="3136392"/>
            <a:ext cx="3785616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离线给 head 选 A-shape / vertical-slash / block-sparse family；在线建立具体 ranges/columns/blocks。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297680"/>
            <a:ext cx="4096512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4297680"/>
            <a:ext cx="91440" cy="1444752"/>
          </a:xfrm>
          <a:prstGeom prst="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8" y="44256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实现 / kernel 含义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4736592"/>
            <a:ext cx="3785616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pattern-specific index 交给 PIT/Triton/FlashAttention 类 kernel。迁移到 video 必须改为双向时空 pattern，并处理每 step 的 planner 成本。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437376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2616B"/>
                </a:solidFill>
                <a:latin typeface="Aptos"/>
              </a:rPr>
              <a:t>MInference Fig.3, NeurIPS 2024 Spotlight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16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212B"/>
                </a:solidFill>
                <a:latin typeface="Aptos Display"/>
              </a:rPr>
              <a:t>架构替代：FrameDiT 以 matrix attention 改变 temporal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2616B"/>
                </a:solidFill>
                <a:latin typeface="Aptos"/>
              </a:rPr>
              <a:t>图文精读版 | 2026-07-10 | NVIDIA CUDA 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681228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6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1_matrix_attention_architecture_ca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05620"/>
            <a:ext cx="6812280" cy="4183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261872"/>
            <a:ext cx="4096512" cy="1243584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43800" y="1261872"/>
            <a:ext cx="91440" cy="124358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44968" y="1389888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解决的问题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8" y="1700784"/>
            <a:ext cx="3785616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full 3D attention 表达强但昂贵；local factorized attention 便宜却错过大运动。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2697480"/>
            <a:ext cx="4096512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43800" y="2697480"/>
            <a:ext cx="91440" cy="1399032"/>
          </a:xfrm>
          <a:prstGeom prst="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4968" y="28254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图中机制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4968" y="3136392"/>
            <a:ext cx="3785616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以 frame matrix 为对象做 temporal Matrix Attention，Global-Local hybrid 保留局部路径，不再构造原 token-pair temporal mask。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4297680"/>
            <a:ext cx="4096512" cy="1444752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43800" y="4297680"/>
            <a:ext cx="91440" cy="1444752"/>
          </a:xfrm>
          <a:prstGeom prst="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8" y="4425696"/>
            <a:ext cx="378561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实现 / kernel 含义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4968" y="4736592"/>
            <a:ext cx="3785616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公开代码仍把 2D mask 转为 -10000 dense bias 并 broadcast；论文算法收益不自动等于 custom sparse kernel。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437376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2616B"/>
                </a:solidFill>
                <a:latin typeface="Aptos"/>
              </a:rPr>
              <a:t>FrameDiT Fig.1, CVPR 2026 Findings; code commit 359bd12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16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212B"/>
                </a:solidFill>
                <a:latin typeface="Aptos Display"/>
              </a:rPr>
              <a:t>两条“真正下沉到 runtime”的路径：规则与 CSR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2616B"/>
                </a:solidFill>
                <a:latin typeface="Aptos"/>
              </a:rPr>
              <a:t>图文精读版 | 2026-07-10 | NVIDIA CUDA 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5440680" cy="3401568"/>
          </a:xfrm>
          <a:prstGeom prst="rect">
            <a:avLst/>
          </a:prstGeom>
          <a:solidFill>
            <a:srgbClr val="FFFFFF"/>
          </a:solidFill>
          <a:ln>
            <a:solidFill>
              <a:srgbClr val="D6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4_recipe_comparison_ca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32688"/>
            <a:ext cx="5440680" cy="260507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36208" y="1234440"/>
            <a:ext cx="5440680" cy="3401568"/>
          </a:xfrm>
          <a:prstGeom prst="rect">
            <a:avLst/>
          </a:prstGeom>
          <a:solidFill>
            <a:srgbClr val="FFFFFF"/>
          </a:solidFill>
          <a:ln>
            <a:solidFill>
              <a:srgbClr val="D6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4_wall_time_scaling_cap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780794"/>
            <a:ext cx="5440680" cy="23088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" y="4828032"/>
            <a:ext cx="507492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828032"/>
            <a:ext cx="91440" cy="932688"/>
          </a:xfrm>
          <a:prstGeom prst="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4956048"/>
            <a:ext cx="476402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Causal-rCM：规则型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5266944"/>
            <a:ext cx="4764024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BlockPattern 让 kernel/BlockMask 按 block id 判定 visibility；同一规则覆盖 TF、JVP、cache。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828032"/>
            <a:ext cx="5074920" cy="932688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4828032"/>
            <a:ext cx="91440" cy="932688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4956048"/>
            <a:ext cx="476402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LVSA：索引型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5266944"/>
            <a:ext cx="4764024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CSR 与 compact layout 交给 FlashInfer planning；图表说明长 horizon/80GB 情况，但不可跨模型横比。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437376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2616B"/>
                </a:solidFill>
                <a:latin typeface="Aptos"/>
              </a:rPr>
              <a:t>Causal-rCM Fig.4; LVSA Fig.4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16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212B"/>
                </a:solidFill>
                <a:latin typeface="Aptos Display"/>
              </a:rPr>
              <a:t>定制 mask 的四种表达：什么能真正跳过 tile？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2616B"/>
                </a:solidFill>
                <a:latin typeface="Aptos"/>
              </a:rPr>
              <a:t>图文精读版 | 2026-07-10 | NVIDIA CUDA 重点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2336" y="1325880"/>
            <a:ext cx="2633472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02336" y="1325880"/>
            <a:ext cx="2633472" cy="475488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53896"/>
            <a:ext cx="2331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7212B"/>
                </a:solidFill>
                <a:latin typeface="Aptos"/>
              </a:rPr>
              <a:t>Rule / BlockMask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75688"/>
            <a:ext cx="2267712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2616B"/>
                </a:solidFill>
                <a:latin typeface="Aptos"/>
              </a:rPr>
              <a:t>block id, window, stream, offset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788920"/>
            <a:ext cx="22677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Causal-rCM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410712"/>
            <a:ext cx="22677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2616B"/>
                </a:solidFill>
                <a:latin typeface="Aptos"/>
              </a:rPr>
              <a:t>kernel/compiler 可判定 tile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800600"/>
            <a:ext cx="22128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E4573D"/>
                </a:solidFill>
                <a:latin typeface="Aptos"/>
              </a:rPr>
              <a:t>成本：规则须 block-aligned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1325880"/>
            <a:ext cx="2633472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10128" y="1325880"/>
            <a:ext cx="2633472" cy="475488"/>
          </a:xfrm>
          <a:prstGeom prst="round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453896"/>
            <a:ext cx="2331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7212B"/>
                </a:solidFill>
                <a:latin typeface="Aptos"/>
              </a:rPr>
              <a:t>CSR / page 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075688"/>
            <a:ext cx="2267712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2616B"/>
                </a:solidFill>
                <a:latin typeface="Aptos"/>
              </a:rPr>
              <a:t>indptr, indices, page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788920"/>
            <a:ext cx="22677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LVSA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410712"/>
            <a:ext cx="22677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2616B"/>
                </a:solidFill>
                <a:latin typeface="Aptos"/>
              </a:rPr>
              <a:t>scheduler 只遍历 nnz block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800600"/>
            <a:ext cx="22128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E4573D"/>
                </a:solidFill>
                <a:latin typeface="Aptos"/>
              </a:rPr>
              <a:t>成本：plan / locality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325880"/>
            <a:ext cx="2633472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1325880"/>
            <a:ext cx="2633472" cy="475488"/>
          </a:xfrm>
          <a:prstGeom prst="round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4224" y="1453896"/>
            <a:ext cx="2331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7212B"/>
                </a:solidFill>
                <a:latin typeface="Aptos"/>
              </a:rPr>
              <a:t>Selected segments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075688"/>
            <a:ext cx="2267712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2616B"/>
                </a:solidFill>
                <a:latin typeface="Aptos"/>
              </a:rPr>
              <a:t>indices, cu_seqlens, compact QKV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788920"/>
            <a:ext cx="22677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VMoBA / TSA / VLM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3410712"/>
            <a:ext cx="22677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2616B"/>
                </a:solidFill>
                <a:latin typeface="Aptos"/>
              </a:rPr>
              <a:t>标准 varlen kernel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4800600"/>
            <a:ext cx="22128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E4573D"/>
                </a:solidFill>
                <a:latin typeface="Aptos"/>
              </a:rPr>
              <a:t>成本：pack/unpack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25712" y="1325880"/>
            <a:ext cx="2633472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25712" y="1325880"/>
            <a:ext cx="2633472" cy="475488"/>
          </a:xfrm>
          <a:prstGeom prst="roundRect">
            <a:avLst/>
          </a:prstGeom>
          <a:solidFill>
            <a:srgbClr val="8C9A9C"/>
          </a:solidFill>
          <a:ln>
            <a:solidFill>
              <a:srgbClr val="8C9A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72016" y="1453896"/>
            <a:ext cx="23317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17212B"/>
                </a:solidFill>
                <a:latin typeface="Aptos"/>
              </a:rPr>
              <a:t>Dense bias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0304" y="2075688"/>
            <a:ext cx="2267712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2616B"/>
                </a:solidFill>
                <a:latin typeface="Aptos"/>
              </a:rPr>
              <a:t>bool / -inf score bias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0304" y="2788920"/>
            <a:ext cx="22677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FrameDiT public code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3410712"/>
            <a:ext cx="22677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2616B"/>
                </a:solidFill>
                <a:latin typeface="Aptos"/>
              </a:rPr>
              <a:t>通常不跳 tile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0304" y="4800600"/>
            <a:ext cx="22128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E4573D"/>
                </a:solidFill>
                <a:latin typeface="Aptos"/>
              </a:rPr>
              <a:t>成本：L² / dense 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6437376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2616B"/>
                </a:solidFill>
                <a:latin typeface="Aptos"/>
              </a:rPr>
              <a:t>Cross-paper implementation 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16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212B"/>
                </a:solidFill>
                <a:latin typeface="Aptos Display"/>
              </a:rPr>
              <a:t>长序列 host-device 数据流：传 metadata，不传 dense pair mask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2616B"/>
                </a:solidFill>
                <a:latin typeface="Aptos"/>
              </a:rPr>
              <a:t>图文精读版 | 2026-07-10 | NVIDIA CUDA 重点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2340864" cy="1234440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2221992"/>
            <a:ext cx="2057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7212B"/>
                </a:solidFill>
                <a:latin typeface="Aptos"/>
              </a:rPr>
              <a:t>CPU static planner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615184"/>
            <a:ext cx="2057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17212B"/>
                </a:solidFill>
                <a:latin typeface="Aptos"/>
              </a:rPr>
              <a:t>geometry / cache
CSR int32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44368" y="242316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-&gt;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965960"/>
            <a:ext cx="2340864" cy="1234440"/>
          </a:xfrm>
          <a:prstGeom prst="round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6" y="2221992"/>
            <a:ext cx="2057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7212B"/>
                </a:solidFill>
                <a:latin typeface="Aptos"/>
              </a:rPr>
              <a:t>GPU dynamic selector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2736" y="2615184"/>
            <a:ext cx="2057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17212B"/>
                </a:solidFill>
                <a:latin typeface="Aptos"/>
              </a:rPr>
              <a:t>Q/K drift / top-k
indices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42316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4224" y="1965960"/>
            <a:ext cx="2340864" cy="1234440"/>
          </a:xfrm>
          <a:prstGeom prst="round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221992"/>
            <a:ext cx="2057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7212B"/>
                </a:solidFill>
                <a:latin typeface="Aptos"/>
              </a:rPr>
              <a:t>Plan / pack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615184"/>
            <a:ext cx="2057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17212B"/>
                </a:solidFill>
                <a:latin typeface="Aptos"/>
              </a:rPr>
              <a:t>page plan / compact QKV
cu_seqlens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9952" y="242316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Aptos"/>
              </a:rP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72016" y="1965960"/>
            <a:ext cx="2340864" cy="1234440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2221992"/>
            <a:ext cx="20574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17212B"/>
                </a:solidFill>
                <a:latin typeface="Aptos"/>
              </a:rPr>
              <a:t>Attention kernel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615184"/>
            <a:ext cx="20574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17212B"/>
                </a:solidFill>
                <a:latin typeface="Aptos"/>
              </a:rPr>
              <a:t>only nnz tiles /
compact sequence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06908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8" y="4069080"/>
            <a:ext cx="91440" cy="96012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4197096"/>
            <a:ext cx="490118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允许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4507992"/>
            <a:ext cx="4901184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静态 window/anchor：CPU 一次性 CSR、pinned metadata、FlashInfer plan；每 request 的 page list 也可由 host scheduler 供给。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4069080"/>
            <a:ext cx="52120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4069080"/>
            <a:ext cx="91440" cy="960120"/>
          </a:xfrm>
          <a:prstGeom prst="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7" y="4197096"/>
            <a:ext cx="490118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禁止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7" y="4507992"/>
            <a:ext cx="4901184" cy="429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CPU 生成 L x L bool/fp16 mask 再拷 GPU。64K 单 bool mask 已 4GiB；per-step top-k CPU 往返还会同步 pipeline。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437376"/>
            <a:ext cx="10607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52616B"/>
                </a:solidFill>
                <a:latin typeface="Aptos"/>
              </a:rPr>
              <a:t>Direct code evidence: LVSA sparse_attention.py:275-304, 598-607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16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7212B"/>
                </a:solidFill>
                <a:latin typeface="Aptos Display"/>
              </a:rPr>
              <a:t>建议的实现边界：先 lowering，再选 kernel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2616B"/>
                </a:solidFill>
                <a:latin typeface="Aptos"/>
              </a:rPr>
              <a:t>图文精读版 | 2026-07-10 | NVIDIA CUDA 重点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10972800" cy="594360"/>
          </a:xfrm>
          <a:prstGeom prst="roundRect">
            <a:avLst/>
          </a:prstGeom>
          <a:solidFill>
            <a:srgbClr val="17212B"/>
          </a:solidFill>
          <a:ln>
            <a:solidFill>
              <a:srgbClr val="172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35608"/>
            <a:ext cx="105156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MaskSemantics: stream partition + temporal geometry + dynamic 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04288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42032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A. rectangles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16936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split into causal/full varlen calls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2304288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7" y="2542032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B. regular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7" y="2916936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BlockMask / predicate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2304288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216" y="2542032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C. explicit 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2916936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CSR/page metadata + 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24544" y="2304288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1704" y="2542032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212B"/>
                </a:solidFill>
                <a:latin typeface="Aptos"/>
              </a:rPr>
              <a:t>D. dynamic selection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61704" y="2916936"/>
            <a:ext cx="2148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gather + compact varlen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050791"/>
            <a:ext cx="1005840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17212B"/>
                </a:solidFill>
                <a:latin typeface="Consolas"/>
              </a:rPr>
              <a:t>build_attention_plan(spec, qkv_layout, device) -&gt; Plan
attention_run(q, k, v, Plan) -&gt; out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5074920"/>
            <a:ext cx="104241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5DD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5074920"/>
            <a:ext cx="91440" cy="685800"/>
          </a:xfrm>
          <a:prstGeom prst="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5202936"/>
            <a:ext cx="10113264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17212B"/>
                </a:solidFill>
                <a:latin typeface="Aptos"/>
              </a:rPr>
              <a:t>评测公式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" y="5513831"/>
            <a:ext cx="10113264" cy="155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2616B"/>
                </a:solidFill>
                <a:latin typeface="Aptos"/>
              </a:rPr>
              <a:t>Ttotal = Tselect + Tmetadata + TH2D/plan + Tpack + Tattn + Tunpack。只报 attention FLOPs 会遗漏控制面和数据搬运。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52616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1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8813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结论：让 mask 的语义在正确层级消失或变小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B7C8C4"/>
                </a:solidFill>
                <a:latin typeface="Aptos"/>
              </a:rPr>
              <a:t>图文精读版 | 2026-07-10 | NVIDIA CUDA 重点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475488" cy="475488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435607"/>
            <a:ext cx="164592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7212B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380744"/>
            <a:ext cx="21945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能拆就拆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426464"/>
            <a:ext cx="6858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C8D6D3"/>
                </a:solidFill>
                <a:latin typeface="Aptos"/>
              </a:rPr>
              <a:t>双流 / 矩形可见性 -&gt; causal/full varlen calls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13432"/>
            <a:ext cx="475488" cy="475488"/>
          </a:xfrm>
          <a:prstGeom prst="roundRect">
            <a:avLst/>
          </a:prstGeom>
          <a:solidFill>
            <a:srgbClr val="D5A33B"/>
          </a:solidFill>
          <a:ln>
            <a:solidFill>
              <a:srgbClr val="D5A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423160"/>
            <a:ext cx="164592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7212B"/>
                </a:solidFill>
                <a:latin typeface="Apto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368296"/>
            <a:ext cx="21945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需稀疏就索引化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414016"/>
            <a:ext cx="6858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C8D6D3"/>
                </a:solidFill>
                <a:latin typeface="Aptos"/>
              </a:rPr>
              <a:t>window/anchor -&gt; CSR / BlockMask / page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300984"/>
            <a:ext cx="475488" cy="475488"/>
          </a:xfrm>
          <a:prstGeom prst="roundRect">
            <a:avLst/>
          </a:prstGeom>
          <a:solidFill>
            <a:srgbClr val="E4573D"/>
          </a:solidFill>
          <a:ln>
            <a:solidFill>
              <a:srgbClr val="E45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410712"/>
            <a:ext cx="164592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7212B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355848"/>
            <a:ext cx="21945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需动态就紧凑化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401568"/>
            <a:ext cx="6858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C8D6D3"/>
                </a:solidFill>
                <a:latin typeface="Aptos"/>
              </a:rPr>
              <a:t>router/selector -&gt; GPU indices + compact QKV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288536"/>
            <a:ext cx="475488" cy="475488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4398264"/>
            <a:ext cx="164592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7212B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343400"/>
            <a:ext cx="21945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控制面也是性能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389120"/>
            <a:ext cx="6858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C8D6D3"/>
                </a:solidFill>
                <a:latin typeface="Aptos"/>
              </a:rPr>
              <a:t>planner、H2D、top-k、pack/unpack 必须和 attention 同测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126480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A9BFBA"/>
                </a:solidFill>
                <a:latin typeface="Aptos"/>
              </a:rPr>
              <a:t>完整图文精读、PDF/source、代码 commit、图清单与 QA：_artifacts/ai_algorithm_survey_multimodal_custom_attn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56848" y="6409944"/>
            <a:ext cx="320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AAB8B5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多模态稀疏 Attention 与定制 Mask Kernel 调研</dc:title>
  <dc:subject>图文精读与内核设计评审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