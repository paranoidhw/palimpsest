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960120"/>
            <a:ext cx="7498079" cy="14630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ptos Display"/>
              </a:rPr>
              <a:t>多模态稀疏 Attention
与定制 Mask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7132320" cy="4114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600" b="0">
                <a:solidFill>
                  <a:srgbClr val="C9D8D5"/>
                </a:solidFill>
                <a:latin typeface="Aptos"/>
              </a:rPr>
              <a:t>从 mask 语义、稀疏表征到 kernel / planner / KV runtime 的实现趋势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38160" y="1051560"/>
            <a:ext cx="3246120" cy="841248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66760" y="1216152"/>
            <a:ext cx="82296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53728" y="1216152"/>
            <a:ext cx="192024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0">
                <a:solidFill>
                  <a:srgbClr val="17212B"/>
                </a:solidFill>
                <a:latin typeface="Aptos"/>
              </a:rPr>
              <a:t>BlockMask / predicate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221991"/>
            <a:ext cx="3246120" cy="841248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2386584"/>
            <a:ext cx="82296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索引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3728" y="2386584"/>
            <a:ext cx="192024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0">
                <a:solidFill>
                  <a:srgbClr val="17212B"/>
                </a:solidFill>
                <a:latin typeface="Aptos"/>
              </a:rPr>
              <a:t>CSR / page 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3392424"/>
            <a:ext cx="3246120" cy="841248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3557016"/>
            <a:ext cx="82296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打包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3728" y="3557016"/>
            <a:ext cx="192024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0">
                <a:solidFill>
                  <a:srgbClr val="17212B"/>
                </a:solidFill>
                <a:latin typeface="Aptos"/>
              </a:rPr>
              <a:t>selector -&gt; varlen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A9BFBA"/>
                </a:solidFill>
                <a:latin typeface="Aptos"/>
              </a:rPr>
              <a:t>内核设计评审版 | 9 篇深读 | CUDA 重点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A5B2B2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核心判断：不要把可见性先展开成 L x L 张量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43891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完整 dense mask 既浪费内存，也不保证跳过 QK/softmax/AV tile。正确的系统边界是：语义 lowering -&gt; 稀疏 metadata / compact QKV -&gt; kernel plan -&gt; attention run。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3375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4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4864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400" b="1">
                <a:solidFill>
                  <a:srgbClr val="0D9488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5603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能拆矩形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697480" cy="59436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0">
                <a:solidFill>
                  <a:srgbClr val="52616B"/>
                </a:solidFill>
                <a:latin typeface="Aptos"/>
              </a:rPr>
              <a:t>多次 causal/full varlen 调用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057400"/>
            <a:ext cx="33375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4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286000"/>
            <a:ext cx="54864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400" b="1">
                <a:solidFill>
                  <a:srgbClr val="D5A33B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788920"/>
            <a:ext cx="25603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结构化图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246120"/>
            <a:ext cx="2697480" cy="59436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0">
                <a:solidFill>
                  <a:srgbClr val="52616B"/>
                </a:solidFill>
                <a:latin typeface="Aptos"/>
              </a:rPr>
              <a:t>CSR / BlockMask / page table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057400"/>
            <a:ext cx="33375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4D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54864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400" b="1">
                <a:solidFill>
                  <a:srgbClr val="E4573D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788920"/>
            <a:ext cx="25603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动态选择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246120"/>
            <a:ext cx="2697480" cy="59436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0">
                <a:solidFill>
                  <a:srgbClr val="52616B"/>
                </a:solidFill>
                <a:latin typeface="Aptos"/>
              </a:rPr>
              <a:t>indices + pack + varlen 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07492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结论：稀疏的单位应该是 kernel 能跳过的 tile、page 或 compact segment，而非抽象的 0/1 score bias。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时间线：从 kernel-aware pattern 到多模态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246120"/>
            <a:ext cx="10652760" cy="64008"/>
          </a:xfrm>
          <a:prstGeom prst="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2350008"/>
            <a:ext cx="164592" cy="164592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81328"/>
            <a:ext cx="1874519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856231"/>
            <a:ext cx="1874519" cy="34747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MInference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584448"/>
            <a:ext cx="1847088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per-head dynamic pattern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62656" y="2350008"/>
            <a:ext cx="164592" cy="164592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1481328"/>
            <a:ext cx="1874519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2656" y="1856231"/>
            <a:ext cx="1874519" cy="34747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Sparse VideoGen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2656" y="3584448"/>
            <a:ext cx="1847088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spatial / temporal heads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75504" y="2350008"/>
            <a:ext cx="164592" cy="164592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75504" y="1481328"/>
            <a:ext cx="1874519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1856231"/>
            <a:ext cx="1874519" cy="34747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VMoBA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3584448"/>
            <a:ext cx="1847088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block router + varlen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88352" y="2350008"/>
            <a:ext cx="164592" cy="164592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88352" y="1481328"/>
            <a:ext cx="1874519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8352" y="1856231"/>
            <a:ext cx="1874519" cy="34747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HASTE / LVSA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352" y="3584448"/>
            <a:ext cx="1847088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reuse / CSR + FlashInfer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2350008"/>
            <a:ext cx="164592" cy="164592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481328"/>
            <a:ext cx="1874519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856231"/>
            <a:ext cx="1874519" cy="34747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Causal-rCM / Cosmos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584448"/>
            <a:ext cx="1847088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100" b="0">
                <a:solidFill>
                  <a:srgbClr val="52616B"/>
                </a:solidFill>
                <a:latin typeface="Aptos"/>
              </a:rPr>
              <a:t>custom JVP / two-way lowering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029200"/>
            <a:ext cx="10515600" cy="34747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800" b="1">
                <a:solidFill>
                  <a:srgbClr val="17212B"/>
                </a:solidFill>
                <a:latin typeface="Aptos"/>
              </a:rPr>
              <a:t>2026 的变化不只在更稀疏，而在把动态 mask 的 planner 成本、训练 JVP 和 serving KV 纳入算子接口。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多模态 mask：组合可见性，而非单一 causal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3657600" cy="448056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256032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Token 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2075688"/>
            <a:ext cx="2971800" cy="438912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76272"/>
            <a:ext cx="251460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reasoner / text / state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752344"/>
            <a:ext cx="2971800" cy="438912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852928"/>
            <a:ext cx="251460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video / audio / 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3429000"/>
            <a:ext cx="2971800" cy="438912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529584"/>
            <a:ext cx="251460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noisy diffusion 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105656"/>
            <a:ext cx="2971800" cy="438912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206240"/>
            <a:ext cx="251460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keyframe / reference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0" y="132588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0600" y="1325880"/>
            <a:ext cx="82296" cy="114300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472184"/>
            <a:ext cx="271576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block-causal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828800"/>
            <a:ext cx="2715768" cy="5486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历史 chunk 可读；未来 chunk 禁止。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132588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1325880"/>
            <a:ext cx="82296" cy="1143000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5048" y="1472184"/>
            <a:ext cx="271576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local + anchor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1828800"/>
            <a:ext cx="2715768" cy="5486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局部时空窗口加 global/keyframe bridge。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288036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00600" y="2880360"/>
            <a:ext cx="82296" cy="1143000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1768" y="3026664"/>
            <a:ext cx="271576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read-only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1768" y="3383280"/>
            <a:ext cx="2715768" cy="5486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reasoner 不被 noisy generator 反向污染。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288036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3879" y="2880360"/>
            <a:ext cx="82296" cy="114300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8" y="3026664"/>
            <a:ext cx="271576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within-chunk bidirectional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383280"/>
            <a:ext cx="2715768" cy="5486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diffusion chunk 内保留去噪互动。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4736592"/>
            <a:ext cx="6400800" cy="43891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可见性条件若在 block/tile 层可判定，就传 rule / metadata；若不可判定，先 lowering 或 selector。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四种实现路径：kernel 看到的不是同一个“mask”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2587752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2587752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224028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规则 / BlockMask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30552"/>
            <a:ext cx="2176272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Causal-rCM
FlexAttention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48840" cy="10058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block schedule + predicate
可跳过 block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1325880"/>
            <a:ext cx="2587752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10712" y="1325880"/>
            <a:ext cx="2587752" cy="502920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1463040"/>
            <a:ext cx="224028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CSR / block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130552"/>
            <a:ext cx="2176272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LVSA
FlashInfer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063240"/>
            <a:ext cx="2148840" cy="10058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indptr + indices
plan 后遍历 nnz tile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325880"/>
            <a:ext cx="2587752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18504" y="1325880"/>
            <a:ext cx="2587752" cy="502920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463040"/>
            <a:ext cx="224028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selector /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2130552"/>
            <a:ext cx="2176272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VMoBA
Token Sparse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3063240"/>
            <a:ext cx="2148840" cy="10058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indices + cu_seqlens
compact QKV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26296" y="1325880"/>
            <a:ext cx="2587752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26296" y="1325880"/>
            <a:ext cx="2587752" cy="502920"/>
          </a:xfrm>
          <a:prstGeom prst="roundRect">
            <a:avLst/>
          </a:prstGeom>
          <a:solidFill>
            <a:srgbClr val="8C9A9C"/>
          </a:solidFill>
          <a:ln>
            <a:solidFill>
              <a:srgbClr val="8C9A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90888" y="1463040"/>
            <a:ext cx="224028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dense bias fallback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9176" y="2130552"/>
            <a:ext cx="2176272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FrameDiT 公开代码
SDPA/Diffusers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3063240"/>
            <a:ext cx="2148840" cy="10058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bool/bias broadcast
通常仍遍历 dense tile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69848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审查点：metadata 的大小是否为 O(nnz_blocks)？kernel grid 是否真的只遍历非零 tile？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LVSA：CPU 保留 CSR metadata，FlashInfer 消费计划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57400"/>
            <a:ext cx="1755648" cy="114300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350008"/>
            <a:ext cx="1481328" cy="53035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geometry
window + rotating anchors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057400"/>
            <a:ext cx="1755648" cy="1143000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350008"/>
            <a:ext cx="1481328" cy="53035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CPU CSR
int32 indptr / indices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057400"/>
            <a:ext cx="1755648" cy="1143000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350008"/>
            <a:ext cx="1481328" cy="53035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FlashInfer plan
block traversal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057400"/>
            <a:ext cx="1755648" cy="114300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2350008"/>
            <a:ext cx="1481328" cy="53035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GPU run
skip unlisted tile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395728"/>
            <a:ext cx="36576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22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2395728"/>
            <a:ext cx="36576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22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2395728"/>
            <a:ext cx="36576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2200" b="1">
                <a:solidFill>
                  <a:srgbClr val="17212B"/>
                </a:solidFill>
                <a:latin typeface="Aptos"/>
              </a:rPr>
              <a:t>-&gt;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77639"/>
            <a:ext cx="10652760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600" b="1">
                <a:solidFill>
                  <a:srgbClr val="17212B"/>
                </a:solidFill>
                <a:latin typeface="Aptos"/>
              </a:rPr>
              <a:t>源码证据：`ring_block_frame_csr` 返回 int32 CSR；`ensure_device()` 刻意不移动 fi_indptr / fi_indices，由 host builder 与 FlashInfer planning pass 消费。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892040"/>
            <a:ext cx="1024128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892040"/>
            <a:ext cx="82296" cy="777240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5038344"/>
            <a:ext cx="9893807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为何这比 dense mask 可扩展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394959"/>
            <a:ext cx="9893807" cy="182879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metadata 从 O(L^2) 改为 O(nnz_blocks + n_rows)，但需计入 planner、CSR 复制与非连续 KV 访存。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Causal-rCM：custom mask 是 JVP operator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3383280" cy="434340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182880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Packed stream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057400"/>
            <a:ext cx="2697480" cy="420624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57984"/>
            <a:ext cx="228600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clean block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724912"/>
            <a:ext cx="2697480" cy="420624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825496"/>
            <a:ext cx="228600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clean block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392424"/>
            <a:ext cx="2697480" cy="420624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493008"/>
            <a:ext cx="228600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noisy block 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059935"/>
            <a:ext cx="2697480" cy="420624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160520"/>
            <a:ext cx="228600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1">
                <a:solidFill>
                  <a:srgbClr val="17212B"/>
                </a:solidFill>
                <a:latin typeface="Aptos"/>
              </a:rPr>
              <a:t>noisy block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141732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1417320"/>
            <a:ext cx="82296" cy="114300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7" y="1563624"/>
            <a:ext cx="262432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BlockPattern + AttnMaskSpec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1920240"/>
            <a:ext cx="2624328" cy="5486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frame-token geometry、chunk、sliding window、sink、offset；不是 L x L 张量。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41732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417320"/>
            <a:ext cx="82296" cy="1143000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1563624"/>
            <a:ext cx="262432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Flex BlockMask / JVP Triton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920240"/>
            <a:ext cx="2624328" cy="5486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同一 teacher-forcing mask 进入 primal 与 JVP；错误的后处理 mask 不等价。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3108960"/>
            <a:ext cx="6373368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63440" y="3108960"/>
            <a:ext cx="82296" cy="1143000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7" y="3255264"/>
            <a:ext cx="6025896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KV cache + 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7" y="3611880"/>
            <a:ext cx="6025896" cy="54864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同一模式覆盖 packed training、replay、inference；对齐和负载均衡仍是成本。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892040"/>
            <a:ext cx="6309360" cy="38404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把“mask 支持”当作 forward-only feature 会漏掉 backward/JVP、cache 与 sequence parallel 的系统合同。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统一模型：先进行语义 lowering，再考虑 sparse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10896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2331720" cy="59436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900" b="1">
                <a:solidFill>
                  <a:srgbClr val="17212B"/>
                </a:solidFill>
                <a:latin typeface="Aptos"/>
              </a:rPr>
              <a:t>通用 FlexAttention
一个混合 mask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63240"/>
            <a:ext cx="2468880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300" b="0">
                <a:solidFill>
                  <a:srgbClr val="52616B"/>
                </a:solidFill>
                <a:latin typeface="Aptos"/>
              </a:rPr>
              <a:t>正确但 kernel 对双流结构不透明
可能做 padding-equivalent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208" y="2487168"/>
            <a:ext cx="731520" cy="5029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300" b="1">
                <a:solidFill>
                  <a:srgbClr val="E4573D"/>
                </a:solidFill>
                <a:latin typeface="Aptos"/>
              </a:rPr>
              <a:t>semantic
lowering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417320"/>
            <a:ext cx="6355080" cy="324612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783080"/>
            <a:ext cx="53035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Cosmos 3 two-way flat attention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377440"/>
            <a:ext cx="534924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2523744"/>
            <a:ext cx="475488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reasoner causal varlen 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3154680"/>
            <a:ext cx="5349240" cy="502920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300984"/>
            <a:ext cx="4754880" cy="201168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generator full varlen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424160" cy="31089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本地论文材料：相对 FlexAttention baseline，Nano 训练吞吐 +22%。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长序列：CPU 可以规划稀疏，但不能输出 dense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82880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325880"/>
            <a:ext cx="201168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生成位置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25880"/>
            <a:ext cx="256032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传递对象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25880"/>
            <a:ext cx="338328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17212B"/>
                </a:solidFill>
                <a:latin typeface="Aptos"/>
              </a:rPr>
              <a:t>执行要点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10881360" cy="576072"/>
          </a:xfrm>
          <a:prstGeom prst="rect">
            <a:avLst/>
          </a:prstGeom>
          <a:solidFill>
            <a:srgbClr val="FFFFFF"/>
          </a:solidFill>
          <a:ln>
            <a:solidFill>
              <a:srgbClr val="D8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965960"/>
            <a:ext cx="182880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静态几何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1965960"/>
            <a:ext cx="20116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CPU 初始化 /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6672" y="1965960"/>
            <a:ext cx="25603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CSR / page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9872" y="1965960"/>
            <a:ext cx="33832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异步 H2D 或 runtime 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633472"/>
            <a:ext cx="10881360" cy="576072"/>
          </a:xfrm>
          <a:prstGeom prst="rect">
            <a:avLst/>
          </a:prstGeom>
          <a:solidFill>
            <a:srgbClr val="FFFFFF"/>
          </a:solidFill>
          <a:ln>
            <a:solidFill>
              <a:srgbClr val="D8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770632"/>
            <a:ext cx="182880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每请求 KV 选择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770632"/>
            <a:ext cx="20116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GPU selector 为主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770632"/>
            <a:ext cx="25603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selected pages / indptr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2770632"/>
            <a:ext cx="33832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paged attention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438144"/>
            <a:ext cx="10881360" cy="576072"/>
          </a:xfrm>
          <a:prstGeom prst="rect">
            <a:avLst/>
          </a:prstGeom>
          <a:solidFill>
            <a:srgbClr val="FFFFFF"/>
          </a:solidFill>
          <a:ln>
            <a:solidFill>
              <a:srgbClr val="D8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75303"/>
            <a:ext cx="182880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每 step 小变化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232" y="3575303"/>
            <a:ext cx="20116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reuse + delta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3575303"/>
            <a:ext cx="25603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cached metadata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3575303"/>
            <a:ext cx="33832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减少 planner 次数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42816"/>
            <a:ext cx="10881360" cy="576072"/>
          </a:xfrm>
          <a:prstGeom prst="rect">
            <a:avLst/>
          </a:prstGeom>
          <a:solidFill>
            <a:srgbClr val="FFFFFF"/>
          </a:solidFill>
          <a:ln>
            <a:solidFill>
              <a:srgbClr val="D8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379976"/>
            <a:ext cx="182880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1">
                <a:solidFill>
                  <a:srgbClr val="17212B"/>
                </a:solidFill>
                <a:latin typeface="Aptos"/>
              </a:rPr>
              <a:t>每 token top-k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9232" y="4379976"/>
            <a:ext cx="20116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GPU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6672" y="4379976"/>
            <a:ext cx="256032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indices + compact QKV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4379976"/>
            <a:ext cx="3383280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避免 PCIe 往返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623560"/>
            <a:ext cx="10698480" cy="34747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E4573D"/>
                </a:solidFill>
                <a:latin typeface="Aptos"/>
              </a:rPr>
              <a:t>禁止路径：CPU 生成 [L,L] bool/fp16 mask 再拷 GPU。它具有 O(L²) 内存、PCIe 传输与同步三重成本。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17212B"/>
                </a:solidFill>
                <a:latin typeface="Aptos Display"/>
              </a:rPr>
              <a:t>实现建议：接口、指标与质量守护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52616B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747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82296" cy="192024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72184"/>
            <a:ext cx="312724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28800"/>
            <a:ext cx="3127248" cy="1325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MaskSpec(kind, geometry, dynamic, storage)
plan(spec, layout, device) -&gt; Plan
run(q,k,v,Plan) -&gt; 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325880"/>
            <a:ext cx="34747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1325880"/>
            <a:ext cx="82296" cy="1920240"/>
          </a:xfrm>
          <a:prstGeom prst="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72184"/>
            <a:ext cx="312724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性能模型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127248" cy="1325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T = T_select + T_pack + T_plan + T_attn + T_unpack
测有效带宽、tile occupancy、nnz 曲线。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325880"/>
            <a:ext cx="34747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1325880"/>
            <a:ext cx="82296" cy="1920240"/>
          </a:xfrm>
          <a:prstGeom prst="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472184"/>
            <a:ext cx="3127248" cy="25603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500" b="1">
                <a:solidFill>
                  <a:srgbClr val="17212B"/>
                </a:solidFill>
                <a:latin typeface="Aptos"/>
              </a:rPr>
              <a:t>正确性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1828800"/>
            <a:ext cx="3127248" cy="1325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200" b="0">
                <a:solidFill>
                  <a:srgbClr val="52616B"/>
                </a:solidFill>
                <a:latin typeface="Aptos"/>
              </a:rPr>
              <a:t>dense reference、JVP/backward、chunk 边界、cache reuse；不要只验证 forward。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977639"/>
            <a:ext cx="3063240" cy="100584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4187952"/>
            <a:ext cx="640080" cy="21031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视频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0784" y="4187952"/>
            <a:ext cx="201168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0">
                <a:solidFill>
                  <a:srgbClr val="C8D6D3"/>
                </a:solidFill>
                <a:latin typeface="Aptos"/>
              </a:rPr>
              <a:t>motion / identity / loop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977639"/>
            <a:ext cx="3063240" cy="100584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6592" y="4187952"/>
            <a:ext cx="640080" cy="21031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跨模态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4" y="4187952"/>
            <a:ext cx="201168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0">
                <a:solidFill>
                  <a:srgbClr val="C8D6D3"/>
                </a:solidFill>
                <a:latin typeface="Aptos"/>
              </a:rPr>
              <a:t>audio-action sync / grounding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977639"/>
            <a:ext cx="3063240" cy="100584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4187952"/>
            <a:ext cx="640080" cy="21031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服务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5984" y="4187952"/>
            <a:ext cx="201168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300" b="0">
                <a:solidFill>
                  <a:srgbClr val="C8D6D3"/>
                </a:solidFill>
                <a:latin typeface="Aptos"/>
              </a:rPr>
              <a:t>TTFT / TPOT / mixed batch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52616B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064240" cy="4572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最终建议：让 mask 的语义在正确层级消失或变小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22960"/>
            <a:ext cx="10972800" cy="219456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900" b="0">
                <a:solidFill>
                  <a:srgbClr val="B9C6C8"/>
                </a:solidFill>
                <a:latin typeface="Aptos"/>
              </a:rPr>
              <a:t>2026-07-10 | NVIDIA CUDA | 证据包：_artifacts/ai_algorithm_survey_multimodal_custom_attn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0292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444752"/>
            <a:ext cx="164592" cy="16459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71600"/>
            <a:ext cx="201168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能拆就拆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417320"/>
            <a:ext cx="704088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双流/矩形可见性 -&gt; causal/full varlen 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502920" cy="502920"/>
          </a:xfrm>
          <a:prstGeom prst="roundRect">
            <a:avLst/>
          </a:prstGeom>
          <a:solidFill>
            <a:srgbClr val="D5A33B"/>
          </a:solidFill>
          <a:ln>
            <a:solidFill>
              <a:srgbClr val="D5A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164592" cy="16459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404872"/>
            <a:ext cx="201168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需稀疏就索引化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50592"/>
            <a:ext cx="704088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window/anchor -&gt; CSR / BlockMask / page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92424"/>
            <a:ext cx="502920" cy="502920"/>
          </a:xfrm>
          <a:prstGeom prst="roundRect">
            <a:avLst/>
          </a:prstGeom>
          <a:solidFill>
            <a:srgbClr val="E4573D"/>
          </a:solidFill>
          <a:ln>
            <a:solidFill>
              <a:srgbClr val="E45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511296"/>
            <a:ext cx="164592" cy="16459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438144"/>
            <a:ext cx="201168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需动态就打包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483864"/>
            <a:ext cx="704088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router/selector -&gt; GPU indices + compact QKV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25696"/>
            <a:ext cx="50292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44568"/>
            <a:ext cx="164592" cy="164592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71416"/>
            <a:ext cx="201168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把控制面纳入 KPI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517136"/>
            <a:ext cx="7040880" cy="27432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400" b="0">
                <a:solidFill>
                  <a:srgbClr val="C8D6D3"/>
                </a:solidFill>
                <a:latin typeface="Aptos"/>
              </a:rPr>
              <a:t>planner、H2D、top-k、pack/unpack 与 attention 同测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080760"/>
            <a:ext cx="10515600" cy="22860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l"/>
            <a:r>
              <a:rPr sz="1100" b="0">
                <a:solidFill>
                  <a:srgbClr val="A9BFBA"/>
                </a:solidFill>
                <a:latin typeface="Aptos"/>
              </a:rPr>
              <a:t>最终文件：01_ai_infra/kernel/custom_attn/ 多模态稀疏Attention与定制Mask_Kernel调研.md / .pptx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446520"/>
            <a:ext cx="320040" cy="182880"/>
          </a:xfrm>
          <a:prstGeom prst="rect">
            <a:avLst/>
          </a:prstGeom>
          <a:noFill/>
        </p:spPr>
        <p:txBody>
          <a:bodyPr wrap="square" lIns="54864" rIns="54864" tIns="27432" anchor="t">
            <a:spAutoFit/>
          </a:bodyPr>
          <a:lstStyle/>
          <a:p>
            <a:pPr algn="r"/>
            <a:r>
              <a:rPr sz="1000" b="1">
                <a:solidFill>
                  <a:srgbClr val="A5B2B2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多模态稀疏 Attention 与定制 Mask Kernel 调研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