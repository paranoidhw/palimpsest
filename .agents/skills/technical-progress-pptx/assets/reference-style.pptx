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6256000" cy="9144000" type="custom"/>
  <p:notesSz cx="16256000" cy="9144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code.com/cann/cann-recipes-infer/pull/625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977900" y="762000"/>
            <a:ext cx="558800" cy="63500"/>
          </a:xfrm>
          <a:prstGeom prst="rect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977900" y="10414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b="1" spc="300" kern="0">
                <a:solidFill>
                  <a:srgbClr val="829AB1"/>
                </a:solidFill>
                <a:latin typeface="MiSans"/>
                <a:ea typeface="MiSans"/>
              </a:rPr>
              <a:t>TECHNICAL PROGRESS — SPECULATIVE INFERENCE</a:t>
            </a:r>
            <a:endParaRPr lang="en-US" sz="1200"/>
          </a:p>
        </p:txBody>
      </p:sp>
      <p:sp>
        <p:nvSpPr>
          <p:cNvPr id="4" name="title"/>
          <p:cNvSpPr txBox="1"/>
          <p:nvPr/>
        </p:nvSpPr>
        <p:spPr>
          <a:xfrm>
            <a:off x="977900" y="1905000"/>
            <a:ext cx="7874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4400" b="1">
                <a:solidFill>
                  <a:srgbClr val="102A43"/>
                </a:solidFill>
                <a:latin typeface="MiSans"/>
                <a:ea typeface="MiSans"/>
              </a:rPr>
              <a:t>DSpark 训推穿刺进展</a:t>
            </a:r>
            <a:endParaRPr lang="en-US" sz="4400"/>
          </a:p>
        </p:txBody>
      </p:sp>
      <p:sp>
        <p:nvSpPr>
          <p:cNvPr id="5" name="subtitle"/>
          <p:cNvSpPr txBox="1"/>
          <p:nvPr/>
        </p:nvSpPr>
        <p:spPr>
          <a:xfrm>
            <a:off x="977900" y="3429000"/>
            <a:ext cx="787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900">
                <a:solidFill>
                  <a:srgbClr val="102A43"/>
                </a:solidFill>
                <a:latin typeface="MiSans"/>
                <a:ea typeface="MiSans"/>
              </a:rPr>
              <a:t>把 DFlash 的高接受长度，转化为真实吞吐收益。</a:t>
            </a:r>
            <a:endParaRPr lang="en-US" sz="1900"/>
          </a:p>
        </p:txBody>
      </p:sp>
      <p:sp>
        <p:nvSpPr>
          <p:cNvPr id="6" name="cover-body"/>
          <p:cNvSpPr txBox="1"/>
          <p:nvPr/>
        </p:nvSpPr>
        <p:spPr>
          <a:xfrm>
            <a:off x="977900" y="4191000"/>
            <a:ext cx="7112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334E68"/>
                </a:solidFill>
                <a:latin typeface="MiSans"/>
                <a:ea typeface="MiSans"/>
              </a:rPr>
              <a:t>DeepSeek 开源 DSpark 投机推理方案，在 DFlash 基础上新增 Markov head 与 confidence head；本次穿刺覆盖推理与训练两条线，验证方案在 NPU 上的可行性。</a:t>
            </a:r>
            <a:endParaRPr lang="en-US" sz="1500"/>
          </a:p>
        </p:txBody>
      </p:sp>
      <p:sp>
        <p:nvSpPr>
          <p:cNvPr id="7" name="cover-meta"/>
          <p:cNvSpPr txBox="1"/>
          <p:nvPr/>
        </p:nvSpPr>
        <p:spPr>
          <a:xfrm>
            <a:off x="977900" y="5969000"/>
            <a:ext cx="711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推理线：recipes infer 仓轻量化复现 · 训练线：DeepSpec / vllm-ascend + speculators</a:t>
            </a:r>
            <a:endParaRPr lang="en-US" sz="1100"/>
          </a:p>
          <a:p>
            <a:pPr>
              <a:lnSpc>
                <a:spcPct val="15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硬件：950DT × 4（推理） · 950PR × 4（训练）</a:t>
            </a:r>
            <a:endParaRPr lang="en-US" sz="1100"/>
          </a:p>
        </p:txBody>
      </p:sp>
      <p:sp>
        <p:nvSpPr>
          <p:cNvPr id="8" name="deco-circle-big"/>
          <p:cNvSpPr/>
          <p:nvPr/>
        </p:nvSpPr>
        <p:spPr>
          <a:xfrm>
            <a:off x="10160000" y="1524000"/>
            <a:ext cx="4826000" cy="4826000"/>
          </a:xfrm>
          <a:prstGeom prst="ellipse">
            <a:avLst/>
          </a:prstGeom>
          <a:solidFill>
            <a:srgbClr val="F1F3F5"/>
          </a:solidFill>
          <a:ln>
            <a:noFill/>
          </a:ln>
        </p:spPr>
      </p:sp>
      <p:sp>
        <p:nvSpPr>
          <p:cNvPr id="9" name="deco-line"/>
          <p:cNvSpPr/>
          <p:nvPr>
            <p:extLst>
              <p:ext uri="{F5677B7D-0D2A-4D9B-9A5C-6D8D7D0E5A5D}">
                <pptd:line encoding="base64url">eyJ2aWV3Qm94IjpbOTUsMTUwXSwicG9pbnRzIjoiMCwxNTAgOTUsMCIsImN1cnZlIjoic2hhcnAifQ</pptd:line>
              </p:ext>
            </p:extLst>
          </p:nvPr>
        </p:nvSpPr>
        <p:spPr>
          <a:xfrm>
            <a:off x="12382500" y="2603500"/>
            <a:ext cx="1206500" cy="1905000"/>
          </a:xfrm>
          <a:custGeom>
            <a:avLst/>
            <a:gdLst/>
            <a:ahLst/>
            <a:cxnLst/>
            <a:rect l="l" t="t" r="r" b="b"/>
            <a:pathLst>
              <a:path w="95" h="150">
                <a:moveTo>
                  <a:pt x="0" y="150"/>
                </a:moveTo>
                <a:lnTo>
                  <a:pt x="95" y="0"/>
                </a:lnTo>
              </a:path>
            </a:pathLst>
          </a:custGeom>
          <a:noFill/>
          <a:ln w="19050">
            <a:solidFill>
              <a:srgbClr val="102A43"/>
            </a:solidFill>
          </a:ln>
        </p:spPr>
      </p:sp>
      <p:sp>
        <p:nvSpPr>
          <p:cNvPr id="10" name="deco-circle-ink"/>
          <p:cNvSpPr/>
          <p:nvPr/>
        </p:nvSpPr>
        <p:spPr>
          <a:xfrm>
            <a:off x="11493500" y="4191000"/>
            <a:ext cx="1905000" cy="1905000"/>
          </a:xfrm>
          <a:prstGeom prst="ellipse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11" name="deco-circle-yellow"/>
          <p:cNvSpPr/>
          <p:nvPr/>
        </p:nvSpPr>
        <p:spPr>
          <a:xfrm>
            <a:off x="13081000" y="2032000"/>
            <a:ext cx="1397000" cy="13970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12" name="deco-label-yellow"/>
          <p:cNvSpPr txBox="1"/>
          <p:nvPr/>
        </p:nvSpPr>
        <p:spPr>
          <a:xfrm>
            <a:off x="13208000" y="3530600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29AB1"/>
                </a:solidFill>
                <a:latin typeface="MiSans"/>
                <a:ea typeface="MiSans"/>
              </a:rPr>
              <a:t>draft 提出候选</a:t>
            </a:r>
            <a:endParaRPr lang="en-US" sz="1200"/>
          </a:p>
        </p:txBody>
      </p:sp>
      <p:sp>
        <p:nvSpPr>
          <p:cNvPr id="13" name="deco-label-ink"/>
          <p:cNvSpPr txBox="1"/>
          <p:nvPr/>
        </p:nvSpPr>
        <p:spPr>
          <a:xfrm>
            <a:off x="11176000" y="62992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29AB1"/>
                </a:solidFill>
                <a:latin typeface="MiSans"/>
                <a:ea typeface="MiSans"/>
              </a:rPr>
              <a:t>target 验证接受</a:t>
            </a:r>
            <a:endParaRPr lang="en-US" sz="1200"/>
          </a:p>
        </p:txBody>
      </p:sp>
      <p:sp>
        <p:nvSpPr>
          <p:cNvPr id="14" name="footer-left"/>
          <p:cNvSpPr txBox="1"/>
          <p:nvPr/>
        </p:nvSpPr>
        <p:spPr>
          <a:xfrm>
            <a:off x="977900" y="8788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内部工作文档 · DSpark 训推穿刺进展</a:t>
            </a:r>
            <a:endParaRPr lang="en-US" sz="1100"/>
          </a:p>
        </p:txBody>
      </p:sp>
      <p:sp>
        <p:nvSpPr>
          <p:cNvPr id="15" name="footer-right"/>
          <p:cNvSpPr txBox="1"/>
          <p:nvPr/>
        </p:nvSpPr>
        <p:spPr>
          <a:xfrm>
            <a:off x="14008100" y="87884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5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01/07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77900" y="711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b="1" spc="300" kern="0">
                <a:solidFill>
                  <a:srgbClr val="829AB1"/>
                </a:solidFill>
                <a:latin typeface="MiSans"/>
                <a:ea typeface="MiSans"/>
              </a:rPr>
              <a:t>BACKGROUND</a:t>
            </a:r>
            <a:endParaRPr lang="en-US" sz="1200"/>
          </a:p>
        </p:txBody>
      </p:sp>
      <p:sp>
        <p:nvSpPr>
          <p:cNvPr id="3" name="sec-num"/>
          <p:cNvSpPr txBox="1"/>
          <p:nvPr/>
        </p:nvSpPr>
        <p:spPr>
          <a:xfrm>
            <a:off x="13335000" y="508000"/>
            <a:ext cx="19431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000" b="1">
                <a:solidFill>
                  <a:srgbClr val="F4C95D">
                    <a:alpha val="20000"/>
                  </a:srgbClr>
                </a:solidFill>
                <a:latin typeface="MiSans"/>
                <a:ea typeface="MiSans"/>
              </a:rPr>
              <a:t>01</a:t>
            </a:r>
            <a:endParaRPr lang="en-US" sz="8000"/>
          </a:p>
        </p:txBody>
      </p:sp>
      <p:sp>
        <p:nvSpPr>
          <p:cNvPr id="4" name="title"/>
          <p:cNvSpPr txBox="1"/>
          <p:nvPr/>
        </p:nvSpPr>
        <p:spPr>
          <a:xfrm>
            <a:off x="977900" y="1066800"/>
            <a:ext cx="1143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5000"/>
              </a:lnSpc>
            </a:pPr>
            <a:r>
              <a:rPr lang="en-US" sz="3000" b="1">
                <a:solidFill>
                  <a:srgbClr val="102A43"/>
                </a:solidFill>
                <a:latin typeface="MiSans"/>
                <a:ea typeface="MiSans"/>
              </a:rPr>
              <a:t>DSpark 在 DFlash 之上，补了因果性与置信度两块能力</a:t>
            </a:r>
            <a:endParaRPr lang="en-US" sz="3000"/>
          </a:p>
        </p:txBody>
      </p:sp>
      <p:sp>
        <p:nvSpPr>
          <p:cNvPr id="5" name="lead"/>
          <p:cNvSpPr txBox="1"/>
          <p:nvPr/>
        </p:nvSpPr>
        <p:spPr>
          <a:xfrm>
            <a:off x="977900" y="1701800"/>
            <a:ext cx="1270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500">
                <a:solidFill>
                  <a:srgbClr val="334E68"/>
                </a:solidFill>
                <a:latin typeface="MiSans"/>
                <a:ea typeface="MiSans"/>
              </a:rPr>
              <a:t>开源方案是 DFlash 投机推理的改进版本，整体思路是「模型 + 部署框架」的系统性优化。</a:t>
            </a:r>
            <a:endParaRPr lang="en-US" sz="1500"/>
          </a:p>
        </p:txBody>
      </p:sp>
      <p:sp>
        <p:nvSpPr>
          <p:cNvPr id="6" name="rule-top"/>
          <p:cNvSpPr/>
          <p:nvPr/>
        </p:nvSpPr>
        <p:spPr>
          <a:xfrm>
            <a:off x="977900" y="2235200"/>
            <a:ext cx="14300200" cy="12700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7" name="m1-num"/>
          <p:cNvSpPr txBox="1"/>
          <p:nvPr/>
        </p:nvSpPr>
        <p:spPr>
          <a:xfrm>
            <a:off x="977900" y="2794000"/>
            <a:ext cx="63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b="1">
                <a:solidFill>
                  <a:srgbClr val="F4C95D"/>
                </a:solidFill>
                <a:latin typeface="MiSans"/>
                <a:ea typeface="MiSans"/>
              </a:rPr>
              <a:t>+1</a:t>
            </a:r>
            <a:endParaRPr lang="en-US" sz="2200"/>
          </a:p>
        </p:txBody>
      </p:sp>
      <p:sp>
        <p:nvSpPr>
          <p:cNvPr id="8" name="m1-title"/>
          <p:cNvSpPr txBox="1"/>
          <p:nvPr/>
        </p:nvSpPr>
        <p:spPr>
          <a:xfrm>
            <a:off x="1778000" y="28194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100" b="1">
                <a:solidFill>
                  <a:srgbClr val="102A43"/>
                </a:solidFill>
                <a:latin typeface="MiSans"/>
                <a:ea typeface="MiSans"/>
              </a:rPr>
              <a:t>Markov head — 引入 token 间因果性</a:t>
            </a:r>
            <a:endParaRPr lang="en-US" sz="2100"/>
          </a:p>
        </p:txBody>
      </p:sp>
      <p:sp>
        <p:nvSpPr>
          <p:cNvPr id="9" name="m1-body"/>
          <p:cNvSpPr txBox="1"/>
          <p:nvPr/>
        </p:nvSpPr>
        <p:spPr>
          <a:xfrm>
            <a:off x="1778000" y="3276600"/>
            <a:ext cx="660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334E68"/>
                </a:solidFill>
                <a:latin typeface="MiSans"/>
                <a:ea typeface="MiSans"/>
              </a:rPr>
              <a:t>让草稿模型在生成候选 token 时利用 token 间的因果依赖，提升候选序列的命中质量。</a:t>
            </a:r>
            <a:endParaRPr lang="en-US" sz="1500"/>
          </a:p>
        </p:txBody>
      </p:sp>
      <p:sp>
        <p:nvSpPr>
          <p:cNvPr id="10" name="m2-num"/>
          <p:cNvSpPr txBox="1"/>
          <p:nvPr/>
        </p:nvSpPr>
        <p:spPr>
          <a:xfrm>
            <a:off x="977900" y="4445000"/>
            <a:ext cx="63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b="1">
                <a:solidFill>
                  <a:srgbClr val="F4C95D"/>
                </a:solidFill>
                <a:latin typeface="MiSans"/>
                <a:ea typeface="MiSans"/>
              </a:rPr>
              <a:t>+2</a:t>
            </a:r>
            <a:endParaRPr lang="en-US" sz="2200"/>
          </a:p>
        </p:txBody>
      </p:sp>
      <p:sp>
        <p:nvSpPr>
          <p:cNvPr id="11" name="m2-title"/>
          <p:cNvSpPr txBox="1"/>
          <p:nvPr/>
        </p:nvSpPr>
        <p:spPr>
          <a:xfrm>
            <a:off x="1778000" y="44704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100" b="1">
                <a:solidFill>
                  <a:srgbClr val="102A43"/>
                </a:solidFill>
                <a:latin typeface="MiSans"/>
                <a:ea typeface="MiSans"/>
              </a:rPr>
              <a:t>confidence head — 引入置信度过滤</a:t>
            </a:r>
            <a:endParaRPr lang="en-US" sz="2100"/>
          </a:p>
        </p:txBody>
      </p:sp>
      <p:sp>
        <p:nvSpPr>
          <p:cNvPr id="12" name="m2-body"/>
          <p:cNvSpPr txBox="1"/>
          <p:nvPr/>
        </p:nvSpPr>
        <p:spPr>
          <a:xfrm>
            <a:off x="1778000" y="4927600"/>
            <a:ext cx="660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334E68"/>
                </a:solidFill>
                <a:latin typeface="MiSans"/>
                <a:ea typeface="MiSans"/>
              </a:rPr>
              <a:t>对草稿 token 做置信度拦截，过滤低质量候选，减少无效的验证开销。</a:t>
            </a:r>
            <a:endParaRPr lang="en-US" sz="1500"/>
          </a:p>
        </p:txBody>
      </p:sp>
      <p:sp>
        <p:nvSpPr>
          <p:cNvPr id="13" name="flow-label"/>
          <p:cNvSpPr txBox="1"/>
          <p:nvPr/>
        </p:nvSpPr>
        <p:spPr>
          <a:xfrm>
            <a:off x="9144000" y="2794000"/>
            <a:ext cx="61341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b="1" spc="200" kern="0">
                <a:solidFill>
                  <a:srgbClr val="829AB1"/>
                </a:solidFill>
                <a:latin typeface="MiSans"/>
                <a:ea typeface="MiSans"/>
              </a:rPr>
              <a:t>优化目标链条</a:t>
            </a:r>
            <a:endParaRPr lang="en-US" sz="1200"/>
          </a:p>
        </p:txBody>
      </p:sp>
      <p:sp>
        <p:nvSpPr>
          <p:cNvPr id="14" name="flow-box1"/>
          <p:cNvSpPr txBox="1"/>
          <p:nvPr/>
        </p:nvSpPr>
        <p:spPr>
          <a:xfrm>
            <a:off x="9144000" y="3276600"/>
            <a:ext cx="254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102A43"/>
                </a:solidFill>
                <a:latin typeface="MiSans"/>
                <a:ea typeface="MiSans"/>
              </a:rPr>
              <a:t>DFlash 高接受长度</a:t>
            </a:r>
            <a:endParaRPr lang="en-US" sz="1700"/>
          </a:p>
        </p:txBody>
      </p:sp>
      <p:sp>
        <p:nvSpPr>
          <p:cNvPr id="15" name="flow-arrow1"/>
          <p:cNvSpPr/>
          <p:nvPr>
            <p:extLst>
              <p:ext uri="{F5677B7D-0D2A-4D9B-9A5C-6D8D7D0E5A5D}">
                <pptd:line encoding="base64url">eyJ2aWV3Qm94IjpbNjAsNF0sInBvaW50cyI6IjAsMiA2MCwyIiwiY3VydmUiOiJzaGFycCJ9</pptd:line>
              </p:ext>
            </p:extLst>
          </p:nvPr>
        </p:nvSpPr>
        <p:spPr>
          <a:xfrm>
            <a:off x="11938000" y="35306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60" h="4">
                <a:moveTo>
                  <a:pt x="0" y="2"/>
                </a:moveTo>
                <a:lnTo>
                  <a:pt x="60" y="2"/>
                </a:lnTo>
              </a:path>
            </a:pathLst>
          </a:custGeom>
          <a:noFill/>
          <a:ln w="19050">
            <a:solidFill>
              <a:srgbClr val="829AB1"/>
            </a:solidFill>
            <a:tailEnd type="arrow"/>
          </a:ln>
        </p:spPr>
      </p:sp>
      <p:sp>
        <p:nvSpPr>
          <p:cNvPr id="16" name="flow-box2-bg"/>
          <p:cNvSpPr/>
          <p:nvPr/>
        </p:nvSpPr>
        <p:spPr>
          <a:xfrm>
            <a:off x="12827000" y="3200400"/>
            <a:ext cx="2451100" cy="711200"/>
          </a:xfrm>
          <a:prstGeom prst="rect">
            <a:avLst/>
          </a:prstGeom>
          <a:solidFill>
            <a:srgbClr val="F1F3F5"/>
          </a:solidFill>
          <a:ln w="12700">
            <a:solidFill>
              <a:srgbClr val="D9E2EC"/>
            </a:solidFill>
          </a:ln>
        </p:spPr>
      </p:sp>
      <p:sp>
        <p:nvSpPr>
          <p:cNvPr id="17" name="flow-box2"/>
          <p:cNvSpPr txBox="1"/>
          <p:nvPr/>
        </p:nvSpPr>
        <p:spPr>
          <a:xfrm>
            <a:off x="13030200" y="3200400"/>
            <a:ext cx="20955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102A43"/>
                </a:solidFill>
                <a:latin typeface="MiSans"/>
                <a:ea typeface="MiSans"/>
              </a:rPr>
              <a:t>高吞吐收益</a:t>
            </a:r>
            <a:endParaRPr lang="en-US" sz="1700"/>
          </a:p>
        </p:txBody>
      </p:sp>
      <p:sp>
        <p:nvSpPr>
          <p:cNvPr id="18" name="flow-note"/>
          <p:cNvSpPr txBox="1"/>
          <p:nvPr/>
        </p:nvSpPr>
        <p:spPr>
          <a:xfrm>
            <a:off x="9144000" y="4267200"/>
            <a:ext cx="61341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接受长度本身不产生收益 —— 只有在真实部署框架中把验证开销降下来、把接受率兑现为吞吐，方案才成立。</a:t>
            </a:r>
            <a:endParaRPr lang="en-US" sz="140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400" b="1">
                <a:solidFill>
                  <a:srgbClr val="334E68"/>
                </a:solidFill>
                <a:latin typeface="MiSans"/>
                <a:ea typeface="MiSans"/>
              </a:rPr>
              <a:t>这正是本次推理 + 训练双线穿刺要回答的问题。</a:t>
            </a:r>
            <a:endParaRPr lang="en-US" sz="1400"/>
          </a:p>
        </p:txBody>
      </p:sp>
      <p:sp>
        <p:nvSpPr>
          <p:cNvPr id="19" name="conclusion-mark"/>
          <p:cNvSpPr/>
          <p:nvPr/>
        </p:nvSpPr>
        <p:spPr>
          <a:xfrm>
            <a:off x="977900" y="6604000"/>
            <a:ext cx="50800" cy="508000"/>
          </a:xfrm>
          <a:prstGeom prst="rect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20" name="conclusion"/>
          <p:cNvSpPr txBox="1"/>
          <p:nvPr/>
        </p:nvSpPr>
        <p:spPr>
          <a:xfrm>
            <a:off x="1231900" y="6604000"/>
            <a:ext cx="1346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102A43"/>
                </a:solidFill>
                <a:latin typeface="MiSans"/>
                <a:ea typeface="MiSans"/>
              </a:rPr>
              <a:t>判断标准：接受率是中间指标，端到端吞吐提升才是最终证据。</a:t>
            </a:r>
            <a:endParaRPr lang="en-US" sz="1700"/>
          </a:p>
        </p:txBody>
      </p:sp>
      <p:sp>
        <p:nvSpPr>
          <p:cNvPr id="21" name="footer-left"/>
          <p:cNvSpPr txBox="1"/>
          <p:nvPr/>
        </p:nvSpPr>
        <p:spPr>
          <a:xfrm>
            <a:off x="977900" y="8788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内部工作文档 · DSpark 训推穿刺进展</a:t>
            </a:r>
            <a:endParaRPr lang="en-US" sz="1100"/>
          </a:p>
        </p:txBody>
      </p:sp>
      <p:sp>
        <p:nvSpPr>
          <p:cNvPr id="22" name="footer-right"/>
          <p:cNvSpPr txBox="1"/>
          <p:nvPr/>
        </p:nvSpPr>
        <p:spPr>
          <a:xfrm>
            <a:off x="14008100" y="87884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5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02/07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77900" y="711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b="1" spc="300" kern="0">
                <a:solidFill>
                  <a:srgbClr val="829AB1"/>
                </a:solidFill>
                <a:latin typeface="MiSans"/>
                <a:ea typeface="MiSans"/>
              </a:rPr>
              <a:t>INFERENCE PUNCTURE — SETUP</a:t>
            </a:r>
            <a:endParaRPr lang="en-US" sz="1200"/>
          </a:p>
        </p:txBody>
      </p:sp>
      <p:sp>
        <p:nvSpPr>
          <p:cNvPr id="3" name="sec-num"/>
          <p:cNvSpPr txBox="1"/>
          <p:nvPr/>
        </p:nvSpPr>
        <p:spPr>
          <a:xfrm>
            <a:off x="13335000" y="508000"/>
            <a:ext cx="19431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000" b="1">
                <a:solidFill>
                  <a:srgbClr val="F4C95D">
                    <a:alpha val="20000"/>
                  </a:srgbClr>
                </a:solidFill>
                <a:latin typeface="MiSans"/>
                <a:ea typeface="MiSans"/>
              </a:rPr>
              <a:t>02</a:t>
            </a:r>
            <a:endParaRPr lang="en-US" sz="8000"/>
          </a:p>
        </p:txBody>
      </p:sp>
      <p:sp>
        <p:nvSpPr>
          <p:cNvPr id="4" name="title"/>
          <p:cNvSpPr txBox="1"/>
          <p:nvPr/>
        </p:nvSpPr>
        <p:spPr>
          <a:xfrm>
            <a:off x="977900" y="1066800"/>
            <a:ext cx="1270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5000"/>
              </a:lnSpc>
            </a:pPr>
            <a:r>
              <a:rPr lang="en-US" sz="3000" b="1">
                <a:solidFill>
                  <a:srgbClr val="102A43"/>
                </a:solidFill>
                <a:latin typeface="MiSans"/>
                <a:ea typeface="MiSans"/>
              </a:rPr>
              <a:t>推理穿刺：轻量化框架复现高接受率，尚非真实部署</a:t>
            </a:r>
            <a:endParaRPr lang="en-US" sz="3000"/>
          </a:p>
        </p:txBody>
      </p:sp>
      <p:sp>
        <p:nvSpPr>
          <p:cNvPr id="5" name="lead"/>
          <p:cNvSpPr txBox="1"/>
          <p:nvPr/>
        </p:nvSpPr>
        <p:spPr>
          <a:xfrm>
            <a:off x="977900" y="1701800"/>
            <a:ext cx="14300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500">
                <a:solidFill>
                  <a:srgbClr val="334E68"/>
                </a:solidFill>
                <a:latin typeface="MiSans"/>
                <a:ea typeface="MiSans"/>
              </a:rPr>
              <a:t>基于 recipes infer 仓轻量化框架搭建 DSpark 投机推理 —— 不是 vllm-ascend / sglang 真实部署框架，当前只复现 DSpark 的高接受率。穿刺 PR：</a:t>
            </a:r>
            <a:r>
              <a:rPr lang="en-US" sz="1500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cann-recipes-infer #625</a:t>
            </a:r>
            <a:r>
              <a:rPr lang="en-US" sz="1500">
                <a:solidFill>
                  <a:srgbClr val="334E68"/>
                </a:solidFill>
                <a:latin typeface="MiSans"/>
                <a:ea typeface="MiSans"/>
              </a:rPr>
              <a:t>（修改内容待总结）。</a:t>
            </a:r>
            <a:endParaRPr lang="en-US" sz="1500"/>
          </a:p>
        </p:txBody>
      </p:sp>
      <p:sp>
        <p:nvSpPr>
          <p:cNvPr id="6" name="rule-top"/>
          <p:cNvSpPr/>
          <p:nvPr/>
        </p:nvSpPr>
        <p:spPr>
          <a:xfrm>
            <a:off x="977900" y="2489200"/>
            <a:ext cx="14300200" cy="12700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graphicFrame>
        <p:nvGraphicFramePr>
          <p:cNvPr id="7" name="cfg-table"/>
          <p:cNvGraphicFramePr>
            <a:graphicFrameLocks noGrp="1"/>
          </p:cNvGraphicFramePr>
          <p:nvPr/>
        </p:nvGraphicFramePr>
        <p:xfrm>
          <a:off x="977900" y="2794000"/>
          <a:ext cx="14300200" cy="4826000"/>
        </p:xfrm>
        <a:graphic>
          <a:graphicData uri="http://schemas.openxmlformats.org/drawingml/2006/table">
            <a:tbl>
              <a:tblPr/>
              <a:tblGrid>
                <a:gridCol w="2288032"/>
                <a:gridCol w="5720080"/>
                <a:gridCol w="6292088"/>
              </a:tblGrid>
              <a:tr h="5791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b="1">
                          <a:solidFill>
                            <a:srgbClr val="102A43"/>
                          </a:solidFill>
                          <a:latin typeface="Times New Roman"/>
                          <a:ea typeface="Times New Roman"/>
                        </a:rPr>
                        <a:t>配置项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02A4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b="1">
                          <a:solidFill>
                            <a:srgbClr val="102A43"/>
                          </a:solidFill>
                          <a:latin typeface="Times New Roman"/>
                          <a:ea typeface="Times New Roman"/>
                        </a:rPr>
                        <a:t>取值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02A43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b="1">
                          <a:solidFill>
                            <a:srgbClr val="102A43"/>
                          </a:solidFill>
                          <a:latin typeface="Times New Roman"/>
                          <a:ea typeface="Times New Roman"/>
                        </a:rPr>
                        <a:t>说明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02A43"/>
                      </a:solidFill>
                    </a:lnB>
                    <a:noFill/>
                  </a:tcPr>
                </a:tc>
              </a:tr>
              <a:tr h="70942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334E68"/>
                          </a:solidFill>
                          <a:latin typeface="Times New Roman"/>
                          <a:ea typeface="Times New Roman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b="1">
                          <a:solidFill>
                            <a:srgbClr val="102A43"/>
                          </a:solidFill>
                          <a:latin typeface="Times New Roman"/>
                          <a:ea typeface="Times New Roman"/>
                        </a:rPr>
                        <a:t>target：DeepseekV4-Flash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334E68"/>
                          </a:solidFill>
                          <a:latin typeface="Times New Roman"/>
                          <a:ea typeface="Times New Roman"/>
                        </a:rPr>
                        <a:t>draft 采用 3 层，blocksize 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C"/>
                      </a:solidFill>
                    </a:lnB>
                    <a:noFill/>
                  </a:tcPr>
                </a:tc>
              </a:tr>
              <a:tr h="70942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334E68"/>
                          </a:solidFill>
                          <a:latin typeface="Times New Roman"/>
                          <a:ea typeface="Times New Roman"/>
                        </a:rPr>
                        <a:t>硬件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b="1">
                          <a:solidFill>
                            <a:srgbClr val="102A43"/>
                          </a:solidFill>
                          <a:latin typeface="Times New Roman"/>
                          <a:ea typeface="Times New Roman"/>
                        </a:rPr>
                        <a:t>950DT × 4 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334E68"/>
                          </a:solidFill>
                          <a:latin typeface="Times New Roman"/>
                          <a:ea typeface="Times New Roman"/>
                        </a:rPr>
                        <a:t>GBS = 4，相当于每卡 1 请求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C"/>
                      </a:solidFill>
                    </a:lnB>
                    <a:noFill/>
                  </a:tcPr>
                </a:tc>
              </a:tr>
              <a:tr h="70942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334E68"/>
                          </a:solidFill>
                          <a:latin typeface="Times New Roman"/>
                          <a:ea typeface="Times New Roman"/>
                        </a:rPr>
                        <a:t>数据集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b="1">
                          <a:solidFill>
                            <a:srgbClr val="102A43"/>
                          </a:solidFill>
                          <a:latin typeface="Times New Roman"/>
                          <a:ea typeface="Times New Roman"/>
                        </a:rPr>
                        <a:t>MATH-500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334E68"/>
                          </a:solidFill>
                          <a:latin typeface="Times New Roman"/>
                          <a:ea typeface="Times New Roman"/>
                        </a:rPr>
                        <a:t>精度与性能均在该数据集上测量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C"/>
                      </a:solidFill>
                    </a:lnB>
                    <a:noFill/>
                  </a:tcPr>
                </a:tc>
              </a:tr>
              <a:tr h="70942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334E68"/>
                          </a:solidFill>
                          <a:latin typeface="Times New Roman"/>
                          <a:ea typeface="Times New Roman"/>
                        </a:rPr>
                        <a:t>并行策略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b="1">
                          <a:solidFill>
                            <a:srgbClr val="102A43"/>
                          </a:solidFill>
                          <a:latin typeface="Times New Roman"/>
                          <a:ea typeface="Times New Roman"/>
                        </a:rPr>
                        <a:t>Attn &amp; HC TP4 · MoE EP4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334E68"/>
                          </a:solidFill>
                          <a:latin typeface="Times New Roman"/>
                          <a:ea typeface="Times New Roman"/>
                        </a:rPr>
                        <a:t>LM head + Markov head TP4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C"/>
                      </a:solidFill>
                    </a:lnB>
                    <a:noFill/>
                  </a:tcPr>
                </a:tc>
              </a:tr>
              <a:tr h="70942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334E68"/>
                          </a:solidFill>
                          <a:latin typeface="Times New Roman"/>
                          <a:ea typeface="Times New Roman"/>
                        </a:rPr>
                        <a:t>纯 DP replica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b="1">
                          <a:solidFill>
                            <a:srgbClr val="102A43"/>
                          </a:solidFill>
                          <a:latin typeface="Times New Roman"/>
                          <a:ea typeface="Times New Roman"/>
                        </a:rPr>
                        <a:t>embedding / shared_expert / confidence_head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334E68"/>
                          </a:solidFill>
                          <a:latin typeface="Times New Roman"/>
                          <a:ea typeface="Times New Roman"/>
                        </a:rPr>
                        <a:t>按数据并行复制部署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C"/>
                      </a:solidFill>
                    </a:lnB>
                    <a:noFill/>
                  </a:tcPr>
                </a:tc>
              </a:tr>
              <a:tr h="69977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334E68"/>
                          </a:solidFill>
                          <a:latin typeface="Times New Roman"/>
                          <a:ea typeface="Times New Roman"/>
                        </a:rPr>
                        <a:t>功能开关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b="1">
                          <a:solidFill>
                            <a:srgbClr val="102A43"/>
                          </a:solidFill>
                          <a:latin typeface="Times New Roman"/>
                          <a:ea typeface="Times New Roman"/>
                        </a:rPr>
                        <a:t>不开启 confidence 拦截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334E68"/>
                          </a:solidFill>
                          <a:latin typeface="Times New Roman"/>
                          <a:ea typeface="Times New Roman"/>
                        </a:rPr>
                        <a:t>本轮结果为未开置信度过滤下的基线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note"/>
          <p:cNvSpPr txBox="1"/>
          <p:nvPr/>
        </p:nvSpPr>
        <p:spPr>
          <a:xfrm>
            <a:off x="977900" y="7874000"/>
            <a:ext cx="14300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边界声明：以上结果为轻量化复现环境下的测量值，不代表真实 serving 框架（vllm-ascend / sglang）下的端到端表现；内部 serving 数据待刷新补充。</a:t>
            </a:r>
            <a:endParaRPr lang="en-US" sz="1100"/>
          </a:p>
        </p:txBody>
      </p:sp>
      <p:sp>
        <p:nvSpPr>
          <p:cNvPr id="9" name="footer-left"/>
          <p:cNvSpPr txBox="1"/>
          <p:nvPr/>
        </p:nvSpPr>
        <p:spPr>
          <a:xfrm>
            <a:off x="977900" y="8788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内部工作文档 · DSpark 训推穿刺进展</a:t>
            </a:r>
            <a:endParaRPr lang="en-US" sz="1100"/>
          </a:p>
        </p:txBody>
      </p:sp>
      <p:sp>
        <p:nvSpPr>
          <p:cNvPr id="10" name="footer-right"/>
          <p:cNvSpPr txBox="1"/>
          <p:nvPr/>
        </p:nvSpPr>
        <p:spPr>
          <a:xfrm>
            <a:off x="14008100" y="87884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5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03/07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77900" y="711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b="1" spc="300" kern="0">
                <a:solidFill>
                  <a:srgbClr val="829AB1"/>
                </a:solidFill>
                <a:latin typeface="MiSans"/>
                <a:ea typeface="MiSans"/>
              </a:rPr>
              <a:t>INFERENCE PUNCTURE — RESULTS</a:t>
            </a:r>
            <a:endParaRPr lang="en-US" sz="1200"/>
          </a:p>
        </p:txBody>
      </p:sp>
      <p:sp>
        <p:nvSpPr>
          <p:cNvPr id="3" name="sec-num"/>
          <p:cNvSpPr txBox="1"/>
          <p:nvPr/>
        </p:nvSpPr>
        <p:spPr>
          <a:xfrm>
            <a:off x="13335000" y="508000"/>
            <a:ext cx="19431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000" b="1">
                <a:solidFill>
                  <a:srgbClr val="F4C95D">
                    <a:alpha val="20000"/>
                  </a:srgbClr>
                </a:solidFill>
                <a:latin typeface="MiSans"/>
                <a:ea typeface="MiSans"/>
              </a:rPr>
              <a:t>03</a:t>
            </a:r>
            <a:endParaRPr lang="en-US" sz="8000"/>
          </a:p>
        </p:txBody>
      </p:sp>
      <p:sp>
        <p:nvSpPr>
          <p:cNvPr id="4" name="title"/>
          <p:cNvSpPr txBox="1"/>
          <p:nvPr/>
        </p:nvSpPr>
        <p:spPr>
          <a:xfrm>
            <a:off x="977900" y="1066800"/>
            <a:ext cx="1270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5000"/>
              </a:lnSpc>
            </a:pPr>
            <a:r>
              <a:rPr lang="en-US" sz="3000" b="1">
                <a:solidFill>
                  <a:srgbClr val="102A43"/>
                </a:solidFill>
                <a:latin typeface="MiSans"/>
                <a:ea typeface="MiSans"/>
              </a:rPr>
              <a:t>等效 TPOT 4.51 ms/token，吞吐较 infer 仓 MTP-1 提升 2.2×</a:t>
            </a:r>
            <a:endParaRPr lang="en-US" sz="3000"/>
          </a:p>
        </p:txBody>
      </p:sp>
      <p:sp>
        <p:nvSpPr>
          <p:cNvPr id="5" name="lead"/>
          <p:cNvSpPr txBox="1"/>
          <p:nvPr/>
        </p:nvSpPr>
        <p:spPr>
          <a:xfrm>
            <a:off x="977900" y="1701800"/>
            <a:ext cx="1270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500">
                <a:solidFill>
                  <a:srgbClr val="334E68"/>
                </a:solidFill>
                <a:latin typeface="MiSans"/>
                <a:ea typeface="MiSans"/>
              </a:rPr>
              <a:t>接受率与耗时均来自 infer 仓轻量化环境（MATH-500 · GBS=4 · 未开启 confidence 拦截）。</a:t>
            </a:r>
            <a:endParaRPr lang="en-US" sz="1500"/>
          </a:p>
        </p:txBody>
      </p:sp>
      <p:sp>
        <p:nvSpPr>
          <p:cNvPr id="6" name="rule-top"/>
          <p:cNvSpPr/>
          <p:nvPr/>
        </p:nvSpPr>
        <p:spPr>
          <a:xfrm>
            <a:off x="977900" y="2235200"/>
            <a:ext cx="14300200" cy="12700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7" name="big-num"/>
          <p:cNvSpPr txBox="1"/>
          <p:nvPr/>
        </p:nvSpPr>
        <p:spPr>
          <a:xfrm>
            <a:off x="977900" y="2921000"/>
            <a:ext cx="4826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7200" b="1">
                <a:solidFill>
                  <a:srgbClr val="102A43"/>
                </a:solidFill>
                <a:latin typeface="MiSans"/>
                <a:ea typeface="MiSans"/>
              </a:rPr>
              <a:t>2.2×</a:t>
            </a:r>
            <a:endParaRPr lang="en-US" sz="7200"/>
          </a:p>
        </p:txBody>
      </p:sp>
      <p:sp>
        <p:nvSpPr>
          <p:cNvPr id="8" name="big-num-label"/>
          <p:cNvSpPr txBox="1"/>
          <p:nvPr/>
        </p:nvSpPr>
        <p:spPr>
          <a:xfrm>
            <a:off x="977900" y="41910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500">
                <a:solidFill>
                  <a:srgbClr val="334E68"/>
                </a:solidFill>
                <a:latin typeface="MiSans"/>
                <a:ea typeface="MiSans"/>
              </a:rPr>
              <a:t>吞吐提升 —— 相对 infer 仓 MTP-1 基线，</a:t>
            </a:r>
            <a:endParaRPr lang="en-US" sz="1500"/>
          </a:p>
          <a:p>
            <a:pPr>
              <a:lnSpc>
                <a:spcPct val="150000"/>
              </a:lnSpc>
            </a:pPr>
            <a:r>
              <a:rPr lang="en-US" sz="1500">
                <a:solidFill>
                  <a:srgbClr val="334E68"/>
                </a:solidFill>
                <a:latin typeface="MiSans"/>
                <a:ea typeface="MiSans"/>
              </a:rPr>
              <a:t>等效 TPOT 4.51 ms/token</a:t>
            </a:r>
            <a:endParaRPr lang="en-US" sz="1500"/>
          </a:p>
        </p:txBody>
      </p:sp>
      <p:sp>
        <p:nvSpPr>
          <p:cNvPr id="9" name="big-num-basis"/>
          <p:cNvSpPr txBox="1"/>
          <p:nvPr/>
        </p:nvSpPr>
        <p:spPr>
          <a:xfrm>
            <a:off x="977900" y="50292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测量依据：target decode verify 16.8 ms，draft 1.9 ms</a:t>
            </a:r>
            <a:endParaRPr lang="en-US" sz="1100"/>
          </a:p>
        </p:txBody>
      </p:sp>
      <p:sp>
        <p:nvSpPr>
          <p:cNvPr id="10" name="accent-tick"/>
          <p:cNvSpPr/>
          <p:nvPr/>
        </p:nvSpPr>
        <p:spPr>
          <a:xfrm>
            <a:off x="977900" y="2667000"/>
            <a:ext cx="558800" cy="63500"/>
          </a:xfrm>
          <a:prstGeom prst="rect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11" name="v-rule"/>
          <p:cNvSpPr/>
          <p:nvPr/>
        </p:nvSpPr>
        <p:spPr>
          <a:xfrm>
            <a:off x="6604000" y="2794000"/>
            <a:ext cx="12700" cy="4064000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12" name="acc1-num"/>
          <p:cNvSpPr txBox="1"/>
          <p:nvPr/>
        </p:nvSpPr>
        <p:spPr>
          <a:xfrm>
            <a:off x="7239000" y="28194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400" b="1">
                <a:solidFill>
                  <a:srgbClr val="102A43"/>
                </a:solidFill>
                <a:latin typeface="MiSans"/>
                <a:ea typeface="MiSans"/>
              </a:rPr>
              <a:t>88%</a:t>
            </a:r>
            <a:endParaRPr lang="en-US" sz="4400"/>
          </a:p>
        </p:txBody>
      </p:sp>
      <p:sp>
        <p:nvSpPr>
          <p:cNvPr id="13" name="acc1-label"/>
          <p:cNvSpPr txBox="1"/>
          <p:nvPr/>
        </p:nvSpPr>
        <p:spPr>
          <a:xfrm>
            <a:off x="9779000" y="2997200"/>
            <a:ext cx="546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334E68"/>
                </a:solidFill>
                <a:latin typeface="MiSans"/>
                <a:ea typeface="MiSans"/>
              </a:rPr>
              <a:t>首 token 接受率</a:t>
            </a:r>
            <a:r>
              <a:rPr lang="en-US" sz="1600">
                <a:solidFill>
                  <a:srgbClr val="334E68"/>
                </a:solidFill>
                <a:latin typeface="MiSans"/>
                <a:ea typeface="MiSans"/>
              </a:rPr>
              <a:t> —— 第一个草稿 token 的命中率</a:t>
            </a:r>
            <a:endParaRPr lang="en-US" sz="1600"/>
          </a:p>
        </p:txBody>
      </p:sp>
      <p:sp>
        <p:nvSpPr>
          <p:cNvPr id="14" name="acc-rule1"/>
          <p:cNvSpPr/>
          <p:nvPr/>
        </p:nvSpPr>
        <p:spPr>
          <a:xfrm>
            <a:off x="7239000" y="3810000"/>
            <a:ext cx="8039100" cy="12700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15" name="acc2-num"/>
          <p:cNvSpPr txBox="1"/>
          <p:nvPr/>
        </p:nvSpPr>
        <p:spPr>
          <a:xfrm>
            <a:off x="7239000" y="40894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400" b="1">
                <a:solidFill>
                  <a:srgbClr val="102A43"/>
                </a:solidFill>
                <a:latin typeface="MiSans"/>
                <a:ea typeface="MiSans"/>
              </a:rPr>
              <a:t>75%</a:t>
            </a:r>
            <a:endParaRPr lang="en-US" sz="4400"/>
          </a:p>
        </p:txBody>
      </p:sp>
      <p:sp>
        <p:nvSpPr>
          <p:cNvPr id="16" name="acc2-label"/>
          <p:cNvSpPr txBox="1"/>
          <p:nvPr/>
        </p:nvSpPr>
        <p:spPr>
          <a:xfrm>
            <a:off x="9779000" y="4267200"/>
            <a:ext cx="546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334E68"/>
                </a:solidFill>
                <a:latin typeface="MiSans"/>
                <a:ea typeface="MiSans"/>
              </a:rPr>
              <a:t>平均接受率</a:t>
            </a:r>
            <a:r>
              <a:rPr lang="en-US" sz="1600">
                <a:solidFill>
                  <a:srgbClr val="334E68"/>
                </a:solidFill>
                <a:latin typeface="MiSans"/>
                <a:ea typeface="MiSans"/>
              </a:rPr>
              <a:t> —— 全候选序列的平均命中水平</a:t>
            </a:r>
            <a:endParaRPr lang="en-US" sz="1600"/>
          </a:p>
        </p:txBody>
      </p:sp>
      <p:sp>
        <p:nvSpPr>
          <p:cNvPr id="17" name="acc-rule2"/>
          <p:cNvSpPr/>
          <p:nvPr/>
        </p:nvSpPr>
        <p:spPr>
          <a:xfrm>
            <a:off x="7239000" y="5080000"/>
            <a:ext cx="8039100" cy="12700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18" name="t1"/>
          <p:cNvSpPr txBox="1"/>
          <p:nvPr/>
        </p:nvSpPr>
        <p:spPr>
          <a:xfrm>
            <a:off x="7239000" y="5384800"/>
            <a:ext cx="80391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400" b="1">
                <a:solidFill>
                  <a:srgbClr val="334E68"/>
                </a:solidFill>
                <a:latin typeface="MiSans"/>
                <a:ea typeface="MiSans"/>
              </a:rPr>
              <a:t>耗时拆分</a:t>
            </a: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：target decode verify 16.8 ms · draft 1.9 ms —— draft 开销约占 verify 的 11%，投机路径的成本大头仍在 target 验证。</a:t>
            </a:r>
            <a:endParaRPr lang="en-US" sz="1400"/>
          </a:p>
        </p:txBody>
      </p:sp>
      <p:sp>
        <p:nvSpPr>
          <p:cNvPr id="19" name="conclusion-mark"/>
          <p:cNvSpPr/>
          <p:nvPr/>
        </p:nvSpPr>
        <p:spPr>
          <a:xfrm>
            <a:off x="977900" y="7112000"/>
            <a:ext cx="50800" cy="711200"/>
          </a:xfrm>
          <a:prstGeom prst="rect">
            <a:avLst/>
          </a:prstGeom>
          <a:solidFill>
            <a:srgbClr val="F4C95D"/>
          </a:solidFill>
          <a:ln>
            <a:noFill/>
          </a:ln>
        </p:spPr>
      </p:sp>
      <p:sp>
        <p:nvSpPr>
          <p:cNvPr id="20" name="conclusion"/>
          <p:cNvSpPr txBox="1"/>
          <p:nvPr/>
        </p:nvSpPr>
        <p:spPr>
          <a:xfrm>
            <a:off x="1231900" y="7112000"/>
            <a:ext cx="14046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600" b="1">
                <a:solidFill>
                  <a:srgbClr val="102A43"/>
                </a:solidFill>
                <a:latin typeface="MiSans"/>
                <a:ea typeface="MiSans"/>
              </a:rPr>
              <a:t>意义：高接受率在轻量化环境下成立；但 2.2× 是框架内对比值，真实吞吐收益仍待 serving 框架验证（内部 serving 数据待刷新）。</a:t>
            </a:r>
            <a:endParaRPr lang="en-US" sz="1600"/>
          </a:p>
        </p:txBody>
      </p:sp>
      <p:sp>
        <p:nvSpPr>
          <p:cNvPr id="21" name="footer-left"/>
          <p:cNvSpPr txBox="1"/>
          <p:nvPr/>
        </p:nvSpPr>
        <p:spPr>
          <a:xfrm>
            <a:off x="977900" y="8788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内部工作文档 · DSpark 训推穿刺进展</a:t>
            </a:r>
            <a:endParaRPr lang="en-US" sz="1100"/>
          </a:p>
        </p:txBody>
      </p:sp>
      <p:sp>
        <p:nvSpPr>
          <p:cNvPr id="22" name="footer-right"/>
          <p:cNvSpPr txBox="1"/>
          <p:nvPr/>
        </p:nvSpPr>
        <p:spPr>
          <a:xfrm>
            <a:off x="14008100" y="87884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5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04/07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77900" y="711200"/>
            <a:ext cx="584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b="1" spc="300" kern="0">
                <a:solidFill>
                  <a:srgbClr val="829AB1"/>
                </a:solidFill>
                <a:latin typeface="MiSans"/>
                <a:ea typeface="MiSans"/>
              </a:rPr>
              <a:t>TRAINING PUNCTURE — V4-FLASH DRAFT</a:t>
            </a:r>
            <a:endParaRPr lang="en-US" sz="1200"/>
          </a:p>
        </p:txBody>
      </p:sp>
      <p:sp>
        <p:nvSpPr>
          <p:cNvPr id="3" name="sec-num"/>
          <p:cNvSpPr txBox="1"/>
          <p:nvPr/>
        </p:nvSpPr>
        <p:spPr>
          <a:xfrm>
            <a:off x="13335000" y="508000"/>
            <a:ext cx="19431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000" b="1">
                <a:solidFill>
                  <a:srgbClr val="F4C95D">
                    <a:alpha val="20000"/>
                  </a:srgbClr>
                </a:solidFill>
                <a:latin typeface="MiSans"/>
                <a:ea typeface="MiSans"/>
              </a:rPr>
              <a:t>04</a:t>
            </a:r>
            <a:endParaRPr lang="en-US" sz="8000"/>
          </a:p>
        </p:txBody>
      </p:sp>
      <p:sp>
        <p:nvSpPr>
          <p:cNvPr id="4" name="title"/>
          <p:cNvSpPr txBox="1"/>
          <p:nvPr/>
        </p:nvSpPr>
        <p:spPr>
          <a:xfrm>
            <a:off x="977900" y="1066800"/>
            <a:ext cx="1270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5000"/>
              </a:lnSpc>
            </a:pPr>
            <a:r>
              <a:rPr lang="en-US" sz="3000" b="1">
                <a:solidFill>
                  <a:srgbClr val="102A43"/>
                </a:solidFill>
                <a:latin typeface="MiSans"/>
                <a:ea typeface="MiSans"/>
              </a:rPr>
              <a:t>训练穿刺：DeepSpec + infer 仓离线特征提取已打通，精度待提升</a:t>
            </a:r>
            <a:endParaRPr lang="en-US" sz="3000"/>
          </a:p>
        </p:txBody>
      </p:sp>
      <p:sp>
        <p:nvSpPr>
          <p:cNvPr id="5" name="lead"/>
          <p:cNvSpPr txBox="1"/>
          <p:nvPr/>
        </p:nvSpPr>
        <p:spPr>
          <a:xfrm>
            <a:off x="977900" y="1701800"/>
            <a:ext cx="1430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500">
                <a:solidFill>
                  <a:srgbClr val="334E68"/>
                </a:solidFill>
                <a:latin typeface="MiSans"/>
                <a:ea typeface="MiSans"/>
              </a:rPr>
              <a:t>对开源 DeepSpec 做初步适配，叠加 infer 仓离线特征提取，训练 v4-flash 草稿模型。穿刺 PR：待补充。</a:t>
            </a:r>
            <a:endParaRPr lang="en-US" sz="1500"/>
          </a:p>
        </p:txBody>
      </p:sp>
      <p:sp>
        <p:nvSpPr>
          <p:cNvPr id="6" name="rule-top"/>
          <p:cNvSpPr/>
          <p:nvPr/>
        </p:nvSpPr>
        <p:spPr>
          <a:xfrm>
            <a:off x="977900" y="2235200"/>
            <a:ext cx="14300200" cy="12700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7" name="flow-step1-n"/>
          <p:cNvSpPr txBox="1"/>
          <p:nvPr/>
        </p:nvSpPr>
        <p:spPr>
          <a:xfrm>
            <a:off x="977900" y="26162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F4C95D"/>
                </a:solidFill>
                <a:latin typeface="MiSans"/>
                <a:ea typeface="MiSans"/>
              </a:rPr>
              <a:t>01</a:t>
            </a:r>
            <a:endParaRPr lang="en-US" sz="2000"/>
          </a:p>
        </p:txBody>
      </p:sp>
      <p:sp>
        <p:nvSpPr>
          <p:cNvPr id="8" name="flow-step1"/>
          <p:cNvSpPr txBox="1"/>
          <p:nvPr/>
        </p:nvSpPr>
        <p:spPr>
          <a:xfrm>
            <a:off x="1612900" y="2641600"/>
            <a:ext cx="330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b="1">
                <a:solidFill>
                  <a:srgbClr val="102A43"/>
                </a:solidFill>
                <a:latin typeface="MiSans"/>
                <a:ea typeface="MiSans"/>
              </a:rPr>
              <a:t>重生成回答</a:t>
            </a:r>
            <a:endParaRPr lang="en-US" sz="1800"/>
          </a:p>
        </p:txBody>
      </p:sp>
      <p:sp>
        <p:nvSpPr>
          <p:cNvPr id="9" name="flow-step1-sub"/>
          <p:cNvSpPr txBox="1"/>
          <p:nvPr/>
        </p:nvSpPr>
        <p:spPr>
          <a:xfrm>
            <a:off x="1612900" y="30226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耗时 30 h · 沿用原始代码方案</a:t>
            </a:r>
            <a:endParaRPr lang="en-US" sz="1100"/>
          </a:p>
        </p:txBody>
      </p:sp>
      <p:sp>
        <p:nvSpPr>
          <p:cNvPr id="10" name="flow-arrow1"/>
          <p:cNvSpPr/>
          <p:nvPr>
            <p:extLst>
              <p:ext uri="{F5677B7D-0D2A-4D9B-9A5C-6D8D7D0E5A5D}">
                <pptd:line encoding="base64url">eyJ2aWV3Qm94IjpbNzAsNF0sInBvaW50cyI6IjAsMiA3MCwyIiwiY3VydmUiOiJzaGFycCJ9</pptd:line>
              </p:ext>
            </p:extLst>
          </p:nvPr>
        </p:nvSpPr>
        <p:spPr>
          <a:xfrm>
            <a:off x="5080000" y="2870200"/>
            <a:ext cx="889000" cy="50800"/>
          </a:xfrm>
          <a:custGeom>
            <a:avLst/>
            <a:gdLst/>
            <a:ahLst/>
            <a:cxnLst/>
            <a:rect l="l" t="t" r="r" b="b"/>
            <a:pathLst>
              <a:path w="70" h="4">
                <a:moveTo>
                  <a:pt x="0" y="2"/>
                </a:moveTo>
                <a:lnTo>
                  <a:pt x="70" y="2"/>
                </a:lnTo>
              </a:path>
            </a:pathLst>
          </a:custGeom>
          <a:noFill/>
          <a:ln w="19050">
            <a:solidFill>
              <a:srgbClr val="829AB1"/>
            </a:solidFill>
            <a:tailEnd type="arrow"/>
          </a:ln>
        </p:spPr>
      </p:sp>
      <p:sp>
        <p:nvSpPr>
          <p:cNvPr id="11" name="flow-step2-n"/>
          <p:cNvSpPr txBox="1"/>
          <p:nvPr/>
        </p:nvSpPr>
        <p:spPr>
          <a:xfrm>
            <a:off x="6223000" y="26162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F4C95D"/>
                </a:solidFill>
                <a:latin typeface="MiSans"/>
                <a:ea typeface="MiSans"/>
              </a:rPr>
              <a:t>02</a:t>
            </a:r>
            <a:endParaRPr lang="en-US" sz="2000"/>
          </a:p>
        </p:txBody>
      </p:sp>
      <p:sp>
        <p:nvSpPr>
          <p:cNvPr id="12" name="flow-step2"/>
          <p:cNvSpPr txBox="1"/>
          <p:nvPr/>
        </p:nvSpPr>
        <p:spPr>
          <a:xfrm>
            <a:off x="6858000" y="2641600"/>
            <a:ext cx="330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b="1">
                <a:solidFill>
                  <a:srgbClr val="102A43"/>
                </a:solidFill>
                <a:latin typeface="MiSans"/>
                <a:ea typeface="MiSans"/>
              </a:rPr>
              <a:t>特征提取</a:t>
            </a:r>
            <a:endParaRPr lang="en-US" sz="1800"/>
          </a:p>
        </p:txBody>
      </p:sp>
      <p:sp>
        <p:nvSpPr>
          <p:cNvPr id="13" name="flow-step2-sub"/>
          <p:cNvSpPr txBox="1"/>
          <p:nvPr/>
        </p:nvSpPr>
        <p:spPr>
          <a:xfrm>
            <a:off x="6858000" y="3022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提取 hiddenstates 14 min · 存储约 264 GB</a:t>
            </a:r>
            <a:endParaRPr lang="en-US" sz="1100"/>
          </a:p>
        </p:txBody>
      </p:sp>
      <p:sp>
        <p:nvSpPr>
          <p:cNvPr id="14" name="flow-arrow2"/>
          <p:cNvSpPr/>
          <p:nvPr>
            <p:extLst>
              <p:ext uri="{F5677B7D-0D2A-4D9B-9A5C-6D8D7D0E5A5D}">
                <pptd:line encoding="base64url">eyJ2aWV3Qm94IjpbNzAsNF0sInBvaW50cyI6IjAsMiA3MCwyIiwiY3VydmUiOiJzaGFycCJ9</pptd:line>
              </p:ext>
            </p:extLst>
          </p:nvPr>
        </p:nvSpPr>
        <p:spPr>
          <a:xfrm>
            <a:off x="10541000" y="2870200"/>
            <a:ext cx="889000" cy="50800"/>
          </a:xfrm>
          <a:custGeom>
            <a:avLst/>
            <a:gdLst/>
            <a:ahLst/>
            <a:cxnLst/>
            <a:rect l="l" t="t" r="r" b="b"/>
            <a:pathLst>
              <a:path w="70" h="4">
                <a:moveTo>
                  <a:pt x="0" y="2"/>
                </a:moveTo>
                <a:lnTo>
                  <a:pt x="70" y="2"/>
                </a:lnTo>
              </a:path>
            </a:pathLst>
          </a:custGeom>
          <a:noFill/>
          <a:ln w="19050">
            <a:solidFill>
              <a:srgbClr val="829AB1"/>
            </a:solidFill>
            <a:tailEnd type="arrow"/>
          </a:ln>
        </p:spPr>
      </p:sp>
      <p:sp>
        <p:nvSpPr>
          <p:cNvPr id="15" name="flow-step3-n"/>
          <p:cNvSpPr txBox="1"/>
          <p:nvPr/>
        </p:nvSpPr>
        <p:spPr>
          <a:xfrm>
            <a:off x="11684000" y="26162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F4C95D"/>
                </a:solidFill>
                <a:latin typeface="MiSans"/>
                <a:ea typeface="MiSans"/>
              </a:rPr>
              <a:t>03</a:t>
            </a:r>
            <a:endParaRPr lang="en-US" sz="2000"/>
          </a:p>
        </p:txBody>
      </p:sp>
      <p:sp>
        <p:nvSpPr>
          <p:cNvPr id="16" name="flow-step3"/>
          <p:cNvSpPr txBox="1"/>
          <p:nvPr/>
        </p:nvSpPr>
        <p:spPr>
          <a:xfrm>
            <a:off x="12319000" y="26416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b="1">
                <a:solidFill>
                  <a:srgbClr val="102A43"/>
                </a:solidFill>
                <a:latin typeface="MiSans"/>
                <a:ea typeface="MiSans"/>
              </a:rPr>
              <a:t>训练 draft model</a:t>
            </a:r>
            <a:endParaRPr lang="en-US" sz="1800"/>
          </a:p>
        </p:txBody>
      </p:sp>
      <p:sp>
        <p:nvSpPr>
          <p:cNvPr id="17" name="flow-step3-sub"/>
          <p:cNvSpPr txBox="1"/>
          <p:nvPr/>
        </p:nvSpPr>
        <p:spPr>
          <a:xfrm>
            <a:off x="12319000" y="30226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0.4 h / epoch</a:t>
            </a:r>
            <a:endParaRPr lang="en-US" sz="1100"/>
          </a:p>
        </p:txBody>
      </p:sp>
      <p:sp>
        <p:nvSpPr>
          <p:cNvPr id="18" name="flow-rule"/>
          <p:cNvSpPr/>
          <p:nvPr/>
        </p:nvSpPr>
        <p:spPr>
          <a:xfrm>
            <a:off x="977900" y="3632200"/>
            <a:ext cx="14300200" cy="12700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19" name="cfg-label"/>
          <p:cNvSpPr txBox="1"/>
          <p:nvPr/>
        </p:nvSpPr>
        <p:spPr>
          <a:xfrm>
            <a:off x="977900" y="3937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b="1" spc="200" kern="0">
                <a:solidFill>
                  <a:srgbClr val="829AB1"/>
                </a:solidFill>
                <a:latin typeface="MiSans"/>
                <a:ea typeface="MiSans"/>
              </a:rPr>
              <a:t>实验配置</a:t>
            </a:r>
            <a:endParaRPr lang="en-US" sz="1200"/>
          </a:p>
        </p:txBody>
      </p:sp>
      <p:sp>
        <p:nvSpPr>
          <p:cNvPr id="20" name="cfg-body"/>
          <p:cNvSpPr txBox="1"/>
          <p:nvPr/>
        </p:nvSpPr>
        <p:spPr>
          <a:xfrm>
            <a:off x="977900" y="4318000"/>
            <a:ext cx="7874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环境：950PR × 4</a:t>
            </a:r>
            <a:endParaRPr lang="en-US" sz="1400"/>
          </a:p>
          <a:p>
            <a:pPr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数据集：论文所述 open perfectblend，取 17k 条 —— 约占原 1.4M 数据的 </a:t>
            </a:r>
            <a:r>
              <a:rPr lang="en-US" sz="1400" b="1">
                <a:solidFill>
                  <a:srgbClr val="334E68"/>
                </a:solidFill>
                <a:latin typeface="MiSans"/>
                <a:ea typeface="MiSans"/>
              </a:rPr>
              <a:t>1.2%</a:t>
            </a:r>
            <a:endParaRPr lang="en-US" sz="1400"/>
          </a:p>
          <a:p>
            <a:pPr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长度：最大 prefill 8k，最大输出 4k</a:t>
            </a:r>
            <a:endParaRPr lang="en-US" sz="1400"/>
          </a:p>
          <a:p>
            <a:pPr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草稿结构：对齐开源 v4-flash —— 3 层 · blocksize 5 · num_anchors 512</a:t>
            </a:r>
            <a:endParaRPr lang="en-US" sz="1400"/>
          </a:p>
          <a:p>
            <a:pPr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备注：重生成为原始代码方案，后续可考虑优化</a:t>
            </a:r>
            <a:endParaRPr lang="en-US" sz="1400"/>
          </a:p>
        </p:txBody>
      </p:sp>
      <p:sp>
        <p:nvSpPr>
          <p:cNvPr id="21" name="v-rule"/>
          <p:cNvSpPr/>
          <p:nvPr/>
        </p:nvSpPr>
        <p:spPr>
          <a:xfrm>
            <a:off x="9652000" y="4064000"/>
            <a:ext cx="12700" cy="2794000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22" name="acc-label"/>
          <p:cNvSpPr txBox="1"/>
          <p:nvPr/>
        </p:nvSpPr>
        <p:spPr>
          <a:xfrm>
            <a:off x="10287000" y="3937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b="1" spc="200" kern="0">
                <a:solidFill>
                  <a:srgbClr val="829AB1"/>
                </a:solidFill>
                <a:latin typeface="MiSans"/>
                <a:ea typeface="MiSans"/>
              </a:rPr>
              <a:t>当前训练精度</a:t>
            </a:r>
            <a:endParaRPr lang="en-US" sz="1200"/>
          </a:p>
        </p:txBody>
      </p:sp>
      <p:sp>
        <p:nvSpPr>
          <p:cNvPr id="23" name="acc1-num"/>
          <p:cNvSpPr txBox="1"/>
          <p:nvPr/>
        </p:nvSpPr>
        <p:spPr>
          <a:xfrm>
            <a:off x="10287000" y="4368800"/>
            <a:ext cx="177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b="1">
                <a:solidFill>
                  <a:srgbClr val="102A43"/>
                </a:solidFill>
                <a:latin typeface="MiSans"/>
                <a:ea typeface="MiSans"/>
              </a:rPr>
              <a:t>17%</a:t>
            </a:r>
            <a:endParaRPr lang="en-US" sz="4000"/>
          </a:p>
        </p:txBody>
      </p:sp>
      <p:sp>
        <p:nvSpPr>
          <p:cNvPr id="24" name="acc1-label"/>
          <p:cNvSpPr txBox="1"/>
          <p:nvPr/>
        </p:nvSpPr>
        <p:spPr>
          <a:xfrm>
            <a:off x="12192000" y="4521200"/>
            <a:ext cx="30861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334E68"/>
                </a:solidFill>
                <a:latin typeface="MiSans"/>
                <a:ea typeface="MiSans"/>
              </a:rPr>
              <a:t>首 token 接受率</a:t>
            </a:r>
            <a:endParaRPr lang="en-US" sz="1500"/>
          </a:p>
        </p:txBody>
      </p:sp>
      <p:sp>
        <p:nvSpPr>
          <p:cNvPr id="25" name="acc2-num"/>
          <p:cNvSpPr txBox="1"/>
          <p:nvPr/>
        </p:nvSpPr>
        <p:spPr>
          <a:xfrm>
            <a:off x="10287000" y="5257800"/>
            <a:ext cx="177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b="1">
                <a:solidFill>
                  <a:srgbClr val="102A43"/>
                </a:solidFill>
                <a:latin typeface="MiSans"/>
                <a:ea typeface="MiSans"/>
              </a:rPr>
              <a:t>15%</a:t>
            </a:r>
            <a:endParaRPr lang="en-US" sz="4000"/>
          </a:p>
        </p:txBody>
      </p:sp>
      <p:sp>
        <p:nvSpPr>
          <p:cNvPr id="26" name="acc2-label"/>
          <p:cNvSpPr txBox="1"/>
          <p:nvPr/>
        </p:nvSpPr>
        <p:spPr>
          <a:xfrm>
            <a:off x="12192000" y="5410200"/>
            <a:ext cx="30861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334E68"/>
                </a:solidFill>
                <a:latin typeface="MiSans"/>
                <a:ea typeface="MiSans"/>
              </a:rPr>
              <a:t>平均接受率</a:t>
            </a:r>
            <a:endParaRPr lang="en-US" sz="1500"/>
          </a:p>
        </p:txBody>
      </p:sp>
      <p:sp>
        <p:nvSpPr>
          <p:cNvPr id="27" name="acc-note"/>
          <p:cNvSpPr txBox="1"/>
          <p:nvPr/>
        </p:nvSpPr>
        <p:spPr>
          <a:xfrm>
            <a:off x="10287000" y="6172200"/>
            <a:ext cx="49911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与推理侧 75% 平均接受率差距明显 —— 训练数据量（1.2%）或是主要限制因素，待分析。</a:t>
            </a:r>
            <a:endParaRPr lang="en-US" sz="1100"/>
          </a:p>
        </p:txBody>
      </p:sp>
      <p:sp>
        <p:nvSpPr>
          <p:cNvPr id="28" name="footer-left"/>
          <p:cNvSpPr txBox="1"/>
          <p:nvPr/>
        </p:nvSpPr>
        <p:spPr>
          <a:xfrm>
            <a:off x="977900" y="8788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内部工作文档 · DSpark 训推穿刺进展</a:t>
            </a:r>
            <a:endParaRPr lang="en-US" sz="1100"/>
          </a:p>
        </p:txBody>
      </p:sp>
      <p:sp>
        <p:nvSpPr>
          <p:cNvPr id="29" name="footer-right"/>
          <p:cNvSpPr txBox="1"/>
          <p:nvPr/>
        </p:nvSpPr>
        <p:spPr>
          <a:xfrm>
            <a:off x="14008100" y="87884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5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05/07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77900" y="711200"/>
            <a:ext cx="584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b="1" spc="300" kern="0">
                <a:solidFill>
                  <a:srgbClr val="829AB1"/>
                </a:solidFill>
                <a:latin typeface="MiSans"/>
                <a:ea typeface="MiSans"/>
              </a:rPr>
              <a:t>TRAINING PUNCTURE — GLM5.2 &amp; PENDING</a:t>
            </a:r>
            <a:endParaRPr lang="en-US" sz="1200"/>
          </a:p>
        </p:txBody>
      </p:sp>
      <p:sp>
        <p:nvSpPr>
          <p:cNvPr id="3" name="sec-num"/>
          <p:cNvSpPr txBox="1"/>
          <p:nvPr/>
        </p:nvSpPr>
        <p:spPr>
          <a:xfrm>
            <a:off x="13335000" y="508000"/>
            <a:ext cx="19431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000" b="1">
                <a:solidFill>
                  <a:srgbClr val="F4C95D">
                    <a:alpha val="20000"/>
                  </a:srgbClr>
                </a:solidFill>
                <a:latin typeface="MiSans"/>
                <a:ea typeface="MiSans"/>
              </a:rPr>
              <a:t>05</a:t>
            </a:r>
            <a:endParaRPr lang="en-US" sz="8000"/>
          </a:p>
        </p:txBody>
      </p:sp>
      <p:sp>
        <p:nvSpPr>
          <p:cNvPr id="4" name="title"/>
          <p:cNvSpPr txBox="1"/>
          <p:nvPr/>
        </p:nvSpPr>
        <p:spPr>
          <a:xfrm>
            <a:off x="977900" y="1066800"/>
            <a:ext cx="1270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5000"/>
              </a:lnSpc>
            </a:pPr>
            <a:r>
              <a:rPr lang="en-US" sz="3000" b="1">
                <a:solidFill>
                  <a:srgbClr val="102A43"/>
                </a:solidFill>
                <a:latin typeface="MiSans"/>
                <a:ea typeface="MiSans"/>
              </a:rPr>
              <a:t>GLM5.2 训练线已启动，多处内容仍待刷新补全</a:t>
            </a:r>
            <a:endParaRPr lang="en-US" sz="3000"/>
          </a:p>
        </p:txBody>
      </p:sp>
      <p:sp>
        <p:nvSpPr>
          <p:cNvPr id="5" name="lead"/>
          <p:cNvSpPr txBox="1"/>
          <p:nvPr/>
        </p:nvSpPr>
        <p:spPr>
          <a:xfrm>
            <a:off x="977900" y="1701800"/>
            <a:ext cx="1430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500">
                <a:solidFill>
                  <a:srgbClr val="334E68"/>
                </a:solidFill>
                <a:latin typeface="MiSans"/>
                <a:ea typeface="MiSans"/>
              </a:rPr>
              <a:t>第二条训练线基于 vllm-ascend + speculators 训练 GLM5.2 草稿模型，整体结构与 v4-flash 线类似。</a:t>
            </a:r>
            <a:endParaRPr lang="en-US" sz="1500"/>
          </a:p>
        </p:txBody>
      </p:sp>
      <p:sp>
        <p:nvSpPr>
          <p:cNvPr id="6" name="rule-top"/>
          <p:cNvSpPr/>
          <p:nvPr/>
        </p:nvSpPr>
        <p:spPr>
          <a:xfrm>
            <a:off x="977900" y="2235200"/>
            <a:ext cx="14300200" cy="12700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7" name="glm-label"/>
          <p:cNvSpPr txBox="1"/>
          <p:nvPr/>
        </p:nvSpPr>
        <p:spPr>
          <a:xfrm>
            <a:off x="977900" y="2641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b="1" spc="200" kern="0">
                <a:solidFill>
                  <a:srgbClr val="829AB1"/>
                </a:solidFill>
                <a:latin typeface="MiSans"/>
                <a:ea typeface="MiSans"/>
              </a:rPr>
              <a:t>GLM5.2 草稿模型训练线</a:t>
            </a:r>
            <a:endParaRPr lang="en-US" sz="1200"/>
          </a:p>
        </p:txBody>
      </p:sp>
      <p:sp>
        <p:nvSpPr>
          <p:cNvPr id="8" name="glm-body"/>
          <p:cNvSpPr txBox="1"/>
          <p:nvPr/>
        </p:nvSpPr>
        <p:spPr>
          <a:xfrm>
            <a:off x="977900" y="3022600"/>
            <a:ext cx="6858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框架：vllm-ascend + speculators</a:t>
            </a:r>
            <a:endParaRPr lang="en-US" sz="1400"/>
          </a:p>
          <a:p>
            <a:pPr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目标：训练 GLM5.2 草稿模型</a:t>
            </a:r>
            <a:endParaRPr lang="en-US" sz="1400"/>
          </a:p>
          <a:p>
            <a:pPr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流程结构：与 v4-flash 线类似（重生成 → 特征提取 → 训练）</a:t>
            </a:r>
            <a:endParaRPr lang="en-US" sz="1400"/>
          </a:p>
          <a:p>
            <a:pPr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400">
                <a:solidFill>
                  <a:srgbClr val="334E68"/>
                </a:solidFill>
                <a:latin typeface="MiSans"/>
                <a:ea typeface="MiSans"/>
              </a:rPr>
              <a:t>状态：具体内容待刷新</a:t>
            </a:r>
            <a:endParaRPr lang="en-US" sz="1400"/>
          </a:p>
        </p:txBody>
      </p:sp>
      <p:sp>
        <p:nvSpPr>
          <p:cNvPr id="9" name="v-rule"/>
          <p:cNvSpPr/>
          <p:nvPr/>
        </p:nvSpPr>
        <p:spPr>
          <a:xfrm>
            <a:off x="8890000" y="2641600"/>
            <a:ext cx="12700" cy="4826000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10" name="pending-label"/>
          <p:cNvSpPr txBox="1"/>
          <p:nvPr/>
        </p:nvSpPr>
        <p:spPr>
          <a:xfrm>
            <a:off x="9525000" y="2641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b="1" spc="200" kern="0">
                <a:solidFill>
                  <a:srgbClr val="829AB1"/>
                </a:solidFill>
                <a:latin typeface="MiSans"/>
                <a:ea typeface="MiSans"/>
              </a:rPr>
              <a:t>待办 — 数据与文档补全</a:t>
            </a:r>
            <a:endParaRPr lang="en-US" sz="1200"/>
          </a:p>
        </p:txBody>
      </p:sp>
      <p:sp>
        <p:nvSpPr>
          <p:cNvPr id="11" name="p1-mark"/>
          <p:cNvSpPr/>
          <p:nvPr/>
        </p:nvSpPr>
        <p:spPr>
          <a:xfrm>
            <a:off x="9525000" y="3124200"/>
            <a:ext cx="127000" cy="127000"/>
          </a:xfrm>
          <a:prstGeom prst="rect">
            <a:avLst/>
          </a:prstGeom>
          <a:solidFill>
            <a:srgbClr val="E98B73"/>
          </a:solidFill>
          <a:ln>
            <a:noFill/>
          </a:ln>
        </p:spPr>
      </p:sp>
      <p:sp>
        <p:nvSpPr>
          <p:cNvPr id="12" name="p1"/>
          <p:cNvSpPr txBox="1"/>
          <p:nvPr/>
        </p:nvSpPr>
        <p:spPr>
          <a:xfrm>
            <a:off x="9855200" y="3048000"/>
            <a:ext cx="54229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500" b="1">
                <a:solidFill>
                  <a:srgbClr val="334E68"/>
                </a:solidFill>
                <a:latin typeface="MiSans"/>
                <a:ea typeface="MiSans"/>
              </a:rPr>
              <a:t>推理穿刺 PR #625</a:t>
            </a:r>
            <a:r>
              <a:rPr lang="en-US" sz="1500">
                <a:solidFill>
                  <a:srgbClr val="334E68"/>
                </a:solidFill>
                <a:latin typeface="MiSans"/>
                <a:ea typeface="MiSans"/>
              </a:rPr>
              <a:t> —— 修改内容待总结</a:t>
            </a:r>
            <a:endParaRPr lang="en-US" sz="1500"/>
          </a:p>
        </p:txBody>
      </p:sp>
      <p:sp>
        <p:nvSpPr>
          <p:cNvPr id="13" name="p2-mark"/>
          <p:cNvSpPr/>
          <p:nvPr/>
        </p:nvSpPr>
        <p:spPr>
          <a:xfrm>
            <a:off x="9525000" y="3937000"/>
            <a:ext cx="127000" cy="127000"/>
          </a:xfrm>
          <a:prstGeom prst="rect">
            <a:avLst/>
          </a:prstGeom>
          <a:solidFill>
            <a:srgbClr val="E98B73"/>
          </a:solidFill>
          <a:ln>
            <a:noFill/>
          </a:ln>
        </p:spPr>
      </p:sp>
      <p:sp>
        <p:nvSpPr>
          <p:cNvPr id="14" name="p2"/>
          <p:cNvSpPr txBox="1"/>
          <p:nvPr/>
        </p:nvSpPr>
        <p:spPr>
          <a:xfrm>
            <a:off x="9855200" y="3860800"/>
            <a:ext cx="54229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500" b="1">
                <a:solidFill>
                  <a:srgbClr val="334E68"/>
                </a:solidFill>
                <a:latin typeface="MiSans"/>
                <a:ea typeface="MiSans"/>
              </a:rPr>
              <a:t>训练穿刺 PR</a:t>
            </a:r>
            <a:r>
              <a:rPr lang="en-US" sz="1500">
                <a:solidFill>
                  <a:srgbClr val="334E68"/>
                </a:solidFill>
                <a:latin typeface="MiSans"/>
                <a:ea typeface="MiSans"/>
              </a:rPr>
              <a:t> —— 链接与修改内容待补充</a:t>
            </a:r>
            <a:endParaRPr lang="en-US" sz="1500"/>
          </a:p>
        </p:txBody>
      </p:sp>
      <p:sp>
        <p:nvSpPr>
          <p:cNvPr id="15" name="p3-mark"/>
          <p:cNvSpPr/>
          <p:nvPr/>
        </p:nvSpPr>
        <p:spPr>
          <a:xfrm>
            <a:off x="9525000" y="4749800"/>
            <a:ext cx="127000" cy="127000"/>
          </a:xfrm>
          <a:prstGeom prst="rect">
            <a:avLst/>
          </a:prstGeom>
          <a:solidFill>
            <a:srgbClr val="E98B73"/>
          </a:solidFill>
          <a:ln>
            <a:noFill/>
          </a:ln>
        </p:spPr>
      </p:sp>
      <p:sp>
        <p:nvSpPr>
          <p:cNvPr id="16" name="p3"/>
          <p:cNvSpPr txBox="1"/>
          <p:nvPr/>
        </p:nvSpPr>
        <p:spPr>
          <a:xfrm>
            <a:off x="9855200" y="4673600"/>
            <a:ext cx="54229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500" b="1">
                <a:solidFill>
                  <a:srgbClr val="334E68"/>
                </a:solidFill>
                <a:latin typeface="MiSans"/>
                <a:ea typeface="MiSans"/>
              </a:rPr>
              <a:t>内部 serving 性能</a:t>
            </a:r>
            <a:r>
              <a:rPr lang="en-US" sz="1500">
                <a:solidFill>
                  <a:srgbClr val="334E68"/>
                </a:solidFill>
                <a:latin typeface="MiSans"/>
                <a:ea typeface="MiSans"/>
              </a:rPr>
              <a:t> —— 数据待刷新补充</a:t>
            </a:r>
            <a:endParaRPr lang="en-US" sz="1500"/>
          </a:p>
        </p:txBody>
      </p:sp>
      <p:sp>
        <p:nvSpPr>
          <p:cNvPr id="17" name="p4-mark"/>
          <p:cNvSpPr/>
          <p:nvPr/>
        </p:nvSpPr>
        <p:spPr>
          <a:xfrm>
            <a:off x="9525000" y="5562600"/>
            <a:ext cx="127000" cy="127000"/>
          </a:xfrm>
          <a:prstGeom prst="rect">
            <a:avLst/>
          </a:prstGeom>
          <a:solidFill>
            <a:srgbClr val="E98B73"/>
          </a:solidFill>
          <a:ln>
            <a:noFill/>
          </a:ln>
        </p:spPr>
      </p:sp>
      <p:sp>
        <p:nvSpPr>
          <p:cNvPr id="18" name="p4"/>
          <p:cNvSpPr txBox="1"/>
          <p:nvPr/>
        </p:nvSpPr>
        <p:spPr>
          <a:xfrm>
            <a:off x="9855200" y="5486400"/>
            <a:ext cx="54229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500" b="1">
                <a:solidFill>
                  <a:srgbClr val="334E68"/>
                </a:solidFill>
                <a:latin typeface="MiSans"/>
                <a:ea typeface="MiSans"/>
              </a:rPr>
              <a:t>GLM5.2 训练细节</a:t>
            </a:r>
            <a:r>
              <a:rPr lang="en-US" sz="1500">
                <a:solidFill>
                  <a:srgbClr val="334E68"/>
                </a:solidFill>
                <a:latin typeface="MiSans"/>
                <a:ea typeface="MiSans"/>
              </a:rPr>
              <a:t> —— 配置与结果待刷新</a:t>
            </a:r>
            <a:endParaRPr lang="en-US" sz="1500"/>
          </a:p>
        </p:txBody>
      </p:sp>
      <p:sp>
        <p:nvSpPr>
          <p:cNvPr id="19" name="p5-mark"/>
          <p:cNvSpPr/>
          <p:nvPr/>
        </p:nvSpPr>
        <p:spPr>
          <a:xfrm>
            <a:off x="9525000" y="6375400"/>
            <a:ext cx="127000" cy="127000"/>
          </a:xfrm>
          <a:prstGeom prst="rect">
            <a:avLst/>
          </a:prstGeom>
          <a:solidFill>
            <a:srgbClr val="E98B73"/>
          </a:solidFill>
          <a:ln>
            <a:noFill/>
          </a:ln>
        </p:spPr>
      </p:sp>
      <p:sp>
        <p:nvSpPr>
          <p:cNvPr id="20" name="p5"/>
          <p:cNvSpPr txBox="1"/>
          <p:nvPr/>
        </p:nvSpPr>
        <p:spPr>
          <a:xfrm>
            <a:off x="9855200" y="6299200"/>
            <a:ext cx="54229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500" b="1">
                <a:solidFill>
                  <a:srgbClr val="334E68"/>
                </a:solidFill>
                <a:latin typeface="MiSans"/>
                <a:ea typeface="MiSans"/>
              </a:rPr>
              <a:t>问题清单</a:t>
            </a:r>
            <a:r>
              <a:rPr lang="en-US" sz="1500">
                <a:solidFill>
                  <a:srgbClr val="334E68"/>
                </a:solidFill>
                <a:latin typeface="MiSans"/>
                <a:ea typeface="MiSans"/>
              </a:rPr>
              <a:t> —— 目前碰到的问题待总结（原文占位）</a:t>
            </a:r>
            <a:endParaRPr lang="en-US" sz="1500"/>
          </a:p>
        </p:txBody>
      </p:sp>
      <p:sp>
        <p:nvSpPr>
          <p:cNvPr id="21" name="conclusion-mark"/>
          <p:cNvSpPr/>
          <p:nvPr/>
        </p:nvSpPr>
        <p:spPr>
          <a:xfrm>
            <a:off x="977900" y="5588000"/>
            <a:ext cx="50800" cy="1016000"/>
          </a:xfrm>
          <a:prstGeom prst="rect">
            <a:avLst/>
          </a:prstGeom>
          <a:solidFill>
            <a:srgbClr val="E98B73"/>
          </a:solidFill>
          <a:ln>
            <a:noFill/>
          </a:ln>
        </p:spPr>
      </p:sp>
      <p:sp>
        <p:nvSpPr>
          <p:cNvPr id="22" name="conclusion"/>
          <p:cNvSpPr txBox="1"/>
          <p:nvPr/>
        </p:nvSpPr>
        <p:spPr>
          <a:xfrm>
            <a:off x="1231900" y="55880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60000"/>
              </a:lnSpc>
            </a:pPr>
            <a:r>
              <a:rPr lang="en-US" sz="1500" b="1">
                <a:solidFill>
                  <a:srgbClr val="102A43"/>
                </a:solidFill>
                <a:latin typeface="MiSans"/>
                <a:ea typeface="MiSans"/>
              </a:rPr>
              <a:t>风险提示：当前所有「待刷新」项直接影响结论完整性 —— 在 serving 数据补全前，2.2× 吞吐提升仅为框架内结论。</a:t>
            </a:r>
            <a:endParaRPr lang="en-US" sz="1500"/>
          </a:p>
        </p:txBody>
      </p:sp>
      <p:sp>
        <p:nvSpPr>
          <p:cNvPr id="23" name="footer-left"/>
          <p:cNvSpPr txBox="1"/>
          <p:nvPr/>
        </p:nvSpPr>
        <p:spPr>
          <a:xfrm>
            <a:off x="977900" y="8788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内部工作文档 · DSpark 训推穿刺进展</a:t>
            </a:r>
            <a:endParaRPr lang="en-US" sz="1100"/>
          </a:p>
        </p:txBody>
      </p:sp>
      <p:sp>
        <p:nvSpPr>
          <p:cNvPr id="24" name="footer-right"/>
          <p:cNvSpPr txBox="1"/>
          <p:nvPr/>
        </p:nvSpPr>
        <p:spPr>
          <a:xfrm>
            <a:off x="14008100" y="87884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5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06/07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243B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77900" y="762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b="1" spc="300" kern="0">
                <a:solidFill>
                  <a:srgbClr val="829AB1"/>
                </a:solidFill>
                <a:latin typeface="MiSans"/>
                <a:ea typeface="MiSans"/>
              </a:rPr>
              <a:t>NEXT STEPS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977900" y="1270000"/>
            <a:ext cx="1270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3400" b="1">
                <a:solidFill>
                  <a:srgbClr val="FBFAF7"/>
                </a:solidFill>
                <a:latin typeface="MiSans"/>
                <a:ea typeface="MiSans"/>
              </a:rPr>
              <a:t>下一步：把穿刺结果推进到真实部署框架，</a:t>
            </a:r>
            <a:endParaRPr lang="en-US" sz="3400"/>
          </a:p>
          <a:p>
            <a:pPr>
              <a:lnSpc>
                <a:spcPct val="130000"/>
              </a:lnSpc>
            </a:pPr>
            <a:r>
              <a:rPr lang="en-US" sz="3400" b="1">
                <a:solidFill>
                  <a:srgbClr val="FBFAF7"/>
                </a:solidFill>
                <a:latin typeface="MiSans"/>
                <a:ea typeface="MiSans"/>
              </a:rPr>
              <a:t>并补齐训练精度差距</a:t>
            </a:r>
            <a:endParaRPr lang="en-US" sz="3400"/>
          </a:p>
        </p:txBody>
      </p:sp>
      <p:sp>
        <p:nvSpPr>
          <p:cNvPr id="4" name="rule"/>
          <p:cNvSpPr/>
          <p:nvPr/>
        </p:nvSpPr>
        <p:spPr>
          <a:xfrm>
            <a:off x="977900" y="2819400"/>
            <a:ext cx="14300200" cy="12700"/>
          </a:xfrm>
          <a:prstGeom prst="rect">
            <a:avLst/>
          </a:prstGeom>
          <a:solidFill>
            <a:srgbClr val="3E4C5E"/>
          </a:solidFill>
          <a:ln>
            <a:noFill/>
          </a:ln>
        </p:spPr>
      </p:sp>
      <p:sp>
        <p:nvSpPr>
          <p:cNvPr id="5" name="a1-num"/>
          <p:cNvSpPr txBox="1"/>
          <p:nvPr/>
        </p:nvSpPr>
        <p:spPr>
          <a:xfrm>
            <a:off x="977900" y="3276600"/>
            <a:ext cx="711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b="1">
                <a:solidFill>
                  <a:srgbClr val="F4C95D"/>
                </a:solidFill>
                <a:latin typeface="MiSans"/>
                <a:ea typeface="MiSans"/>
              </a:rPr>
              <a:t>01</a:t>
            </a:r>
            <a:endParaRPr lang="en-US" sz="2200"/>
          </a:p>
        </p:txBody>
      </p:sp>
      <p:sp>
        <p:nvSpPr>
          <p:cNvPr id="6" name="a1-title"/>
          <p:cNvSpPr txBox="1"/>
          <p:nvPr/>
        </p:nvSpPr>
        <p:spPr>
          <a:xfrm>
            <a:off x="1841500" y="3302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900" b="1">
                <a:solidFill>
                  <a:srgbClr val="FBFAF7"/>
                </a:solidFill>
                <a:latin typeface="MiSans"/>
                <a:ea typeface="MiSans"/>
              </a:rPr>
              <a:t>真实框架验证</a:t>
            </a:r>
            <a:endParaRPr lang="en-US" sz="1900"/>
          </a:p>
        </p:txBody>
      </p:sp>
      <p:sp>
        <p:nvSpPr>
          <p:cNvPr id="7" name="a1-body"/>
          <p:cNvSpPr txBox="1"/>
          <p:nvPr/>
        </p:nvSpPr>
        <p:spPr>
          <a:xfrm>
            <a:off x="1841500" y="3759200"/>
            <a:ext cx="4064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B8C4D0"/>
                </a:solidFill>
                <a:latin typeface="MiSans"/>
                <a:ea typeface="MiSans"/>
              </a:rPr>
              <a:t>在 vllm-ascend / sglang 上复现 DSpark，测量真实端到端吞吐与 TPOT。</a:t>
            </a:r>
            <a:endParaRPr lang="en-US" sz="1400"/>
          </a:p>
        </p:txBody>
      </p:sp>
      <p:sp>
        <p:nvSpPr>
          <p:cNvPr id="8" name="a2-num"/>
          <p:cNvSpPr txBox="1"/>
          <p:nvPr/>
        </p:nvSpPr>
        <p:spPr>
          <a:xfrm>
            <a:off x="6604000" y="3276600"/>
            <a:ext cx="711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b="1">
                <a:solidFill>
                  <a:srgbClr val="F4C95D"/>
                </a:solidFill>
                <a:latin typeface="MiSans"/>
                <a:ea typeface="MiSans"/>
              </a:rPr>
              <a:t>02</a:t>
            </a:r>
            <a:endParaRPr lang="en-US" sz="2200"/>
          </a:p>
        </p:txBody>
      </p:sp>
      <p:sp>
        <p:nvSpPr>
          <p:cNvPr id="9" name="a2-title"/>
          <p:cNvSpPr txBox="1"/>
          <p:nvPr/>
        </p:nvSpPr>
        <p:spPr>
          <a:xfrm>
            <a:off x="7467600" y="3302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900" b="1">
                <a:solidFill>
                  <a:srgbClr val="FBFAF7"/>
                </a:solidFill>
                <a:latin typeface="MiSans"/>
                <a:ea typeface="MiSans"/>
              </a:rPr>
              <a:t>补齐证据链</a:t>
            </a:r>
            <a:endParaRPr lang="en-US" sz="1900"/>
          </a:p>
        </p:txBody>
      </p:sp>
      <p:sp>
        <p:nvSpPr>
          <p:cNvPr id="10" name="a2-body"/>
          <p:cNvSpPr txBox="1"/>
          <p:nvPr/>
        </p:nvSpPr>
        <p:spPr>
          <a:xfrm>
            <a:off x="7467600" y="3759200"/>
            <a:ext cx="4064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B8C4D0"/>
                </a:solidFill>
                <a:latin typeface="MiSans"/>
                <a:ea typeface="MiSans"/>
              </a:rPr>
              <a:t>刷新内部 serving 数据，总结推理 / 训练两个穿刺 PR 的修改内容。</a:t>
            </a:r>
            <a:endParaRPr lang="en-US" sz="1400"/>
          </a:p>
        </p:txBody>
      </p:sp>
      <p:sp>
        <p:nvSpPr>
          <p:cNvPr id="11" name="a3-num"/>
          <p:cNvSpPr txBox="1"/>
          <p:nvPr/>
        </p:nvSpPr>
        <p:spPr>
          <a:xfrm>
            <a:off x="12230100" y="3276600"/>
            <a:ext cx="711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b="1">
                <a:solidFill>
                  <a:srgbClr val="F4C95D"/>
                </a:solidFill>
                <a:latin typeface="MiSans"/>
                <a:ea typeface="MiSans"/>
              </a:rPr>
              <a:t>03</a:t>
            </a:r>
            <a:endParaRPr lang="en-US" sz="2200"/>
          </a:p>
        </p:txBody>
      </p:sp>
      <p:sp>
        <p:nvSpPr>
          <p:cNvPr id="12" name="a3-title"/>
          <p:cNvSpPr txBox="1"/>
          <p:nvPr/>
        </p:nvSpPr>
        <p:spPr>
          <a:xfrm>
            <a:off x="13093700" y="3302000"/>
            <a:ext cx="2184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900" b="1">
                <a:solidFill>
                  <a:srgbClr val="FBFAF7"/>
                </a:solidFill>
                <a:latin typeface="MiSans"/>
                <a:ea typeface="MiSans"/>
              </a:rPr>
              <a:t>提升训练精度</a:t>
            </a:r>
            <a:endParaRPr lang="en-US" sz="1900"/>
          </a:p>
        </p:txBody>
      </p:sp>
      <p:sp>
        <p:nvSpPr>
          <p:cNvPr id="13" name="a3-body"/>
          <p:cNvSpPr txBox="1"/>
          <p:nvPr/>
        </p:nvSpPr>
        <p:spPr>
          <a:xfrm>
            <a:off x="13093700" y="3759200"/>
            <a:ext cx="21844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B8C4D0"/>
                </a:solidFill>
                <a:latin typeface="MiSans"/>
                <a:ea typeface="MiSans"/>
              </a:rPr>
              <a:t>分析训练侧 15% 与推理侧 75% 的差距，评估数据量与重生成方案优化。</a:t>
            </a:r>
            <a:endParaRPr lang="en-US" sz="1400"/>
          </a:p>
        </p:txBody>
      </p:sp>
      <p:sp>
        <p:nvSpPr>
          <p:cNvPr id="14" name="rule2"/>
          <p:cNvSpPr/>
          <p:nvPr/>
        </p:nvSpPr>
        <p:spPr>
          <a:xfrm>
            <a:off x="977900" y="5461000"/>
            <a:ext cx="14300200" cy="12700"/>
          </a:xfrm>
          <a:prstGeom prst="rect">
            <a:avLst/>
          </a:prstGeom>
          <a:solidFill>
            <a:srgbClr val="3E4C5E"/>
          </a:solidFill>
          <a:ln>
            <a:noFill/>
          </a:ln>
        </p:spPr>
      </p:sp>
      <p:sp>
        <p:nvSpPr>
          <p:cNvPr id="15" name="review-label"/>
          <p:cNvSpPr txBox="1"/>
          <p:nvPr/>
        </p:nvSpPr>
        <p:spPr>
          <a:xfrm>
            <a:off x="977900" y="5867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b="1" spc="200" kern="0">
                <a:solidFill>
                  <a:srgbClr val="829AB1"/>
                </a:solidFill>
                <a:latin typeface="MiSans"/>
                <a:ea typeface="MiSans"/>
              </a:rPr>
              <a:t>复盘点</a:t>
            </a:r>
            <a:endParaRPr lang="en-US" sz="1200"/>
          </a:p>
        </p:txBody>
      </p:sp>
      <p:sp>
        <p:nvSpPr>
          <p:cNvPr id="16" name="review-body"/>
          <p:cNvSpPr txBox="1"/>
          <p:nvPr/>
        </p:nvSpPr>
        <p:spPr>
          <a:xfrm>
            <a:off x="977900" y="62484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>
                <a:solidFill>
                  <a:srgbClr val="B8C4D0"/>
                </a:solidFill>
                <a:latin typeface="MiSans"/>
                <a:ea typeface="MiSans"/>
              </a:rPr>
              <a:t>负责人：待填 · 评审节奏：待填</a:t>
            </a:r>
            <a:endParaRPr lang="en-US" sz="1400"/>
          </a:p>
          <a:p>
            <a:pPr>
              <a:lnSpc>
                <a:spcPct val="170000"/>
              </a:lnSpc>
            </a:pPr>
            <a:r>
              <a:rPr lang="en-US" sz="1400">
                <a:solidFill>
                  <a:srgbClr val="B8C4D0"/>
                </a:solidFill>
                <a:latin typeface="MiSans"/>
                <a:ea typeface="MiSans"/>
              </a:rPr>
              <a:t>检查口径：接受率（首 token / 平均） · 等效 TPOT · 端到端吞吐 —— 测量环境须与本次穿刺一致以便对比。</a:t>
            </a:r>
            <a:endParaRPr lang="en-US" sz="1400"/>
          </a:p>
        </p:txBody>
      </p:sp>
      <p:sp>
        <p:nvSpPr>
          <p:cNvPr id="17" name="closing"/>
          <p:cNvSpPr txBox="1"/>
          <p:nvPr/>
        </p:nvSpPr>
        <p:spPr>
          <a:xfrm>
            <a:off x="977900" y="7620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F4C95D"/>
                </a:solidFill>
                <a:latin typeface="MiSans"/>
                <a:ea typeface="MiSans"/>
              </a:rPr>
              <a:t>接受率是中间指标，真实吞吐才是结论。</a:t>
            </a:r>
            <a:endParaRPr lang="en-US" sz="1700"/>
          </a:p>
        </p:txBody>
      </p:sp>
      <p:sp>
        <p:nvSpPr>
          <p:cNvPr id="18" name="footer-left"/>
          <p:cNvSpPr txBox="1"/>
          <p:nvPr/>
        </p:nvSpPr>
        <p:spPr>
          <a:xfrm>
            <a:off x="977900" y="8788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内部工作文档 · DSpark 训推穿刺进展</a:t>
            </a:r>
            <a:endParaRPr lang="en-US" sz="1100"/>
          </a:p>
        </p:txBody>
      </p:sp>
      <p:sp>
        <p:nvSpPr>
          <p:cNvPr id="19" name="footer-right"/>
          <p:cNvSpPr txBox="1"/>
          <p:nvPr/>
        </p:nvSpPr>
        <p:spPr>
          <a:xfrm>
            <a:off x="14008100" y="87884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29AB1"/>
                </a:solidFill>
                <a:latin typeface="MiSans"/>
                <a:ea typeface="MiSans"/>
              </a:rPr>
              <a:t>07/07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Company>Moonshot</Company>
  <Slides>7</Slides>
</Properties>
</file>

<file path=docProps/core.xml><?xml version="1.0" encoding="utf-8"?>
<cp:coreProperties xmlns:cp="http://schemas.openxmlformats.org/package/2006/metadata/core-properties" xmlns:dc="http://purl.org/dc/elements/1.1/">
  <dc:title>DSpark 训推穿刺进展</dc:title>
  <dc:subject>DSpark 训推穿刺进展</dc:subject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{"Label":"DSpark 训推穿刺进展","ContentProducer":"001191110108MACG2KBH8F10000","ProduceID":"19fa271a-5d92-8dd2-8000-000067e7766f","ReservedCode1":"","ContentPropagator":"001191110108MACG2KBH8F20000","PropagateID":"19fa2702-f6b2-860a-8000-0933293afe8c","ReservedCode2":""}</vt:lpwstr>
  </property>
</Properties>
</file>